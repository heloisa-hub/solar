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548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oisa Cabral" userId="17ff8348-d192-40d6-9508-628f3ebb1827" providerId="ADAL" clId="{C373932E-EBD5-4393-85FE-25E64CD3FCFD}"/>
    <pc:docChg chg="undo custSel modSld">
      <pc:chgData name="Heloisa Cabral" userId="17ff8348-d192-40d6-9508-628f3ebb1827" providerId="ADAL" clId="{C373932E-EBD5-4393-85FE-25E64CD3FCFD}" dt="2026-08-28T18:55:24.176" v="4" actId="732"/>
      <pc:docMkLst>
        <pc:docMk/>
      </pc:docMkLst>
      <pc:sldChg chg="modSp mod">
        <pc:chgData name="Heloisa Cabral" userId="17ff8348-d192-40d6-9508-628f3ebb1827" providerId="ADAL" clId="{C373932E-EBD5-4393-85FE-25E64CD3FCFD}" dt="2026-08-28T18:55:24.176" v="4" actId="732"/>
        <pc:sldMkLst>
          <pc:docMk/>
          <pc:sldMk cId="0" sldId="256"/>
        </pc:sldMkLst>
        <pc:picChg chg="mod modCrop">
          <ac:chgData name="Heloisa Cabral" userId="17ff8348-d192-40d6-9508-628f3ebb1827" providerId="ADAL" clId="{C373932E-EBD5-4393-85FE-25E64CD3FCFD}" dt="2026-08-28T18:55:24.176" v="4" actId="732"/>
          <ac:picMkLst>
            <pc:docMk/>
            <pc:sldMk cId="0" sldId="256"/>
            <ac:picMk id="7" creationId="{00000000-0000-0000-0000-000000000000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80010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93345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6680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20015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33350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ymbol_gold_wm22.png"/>
          <p:cNvPicPr>
            <a:picLocks noChangeAspect="1"/>
          </p:cNvPicPr>
          <p:nvPr/>
        </p:nvPicPr>
        <p:blipFill>
          <a:blip r:embed="rId2">
            <a:alphaModFix amt="22000"/>
          </a:blip>
          <a:srcRect t="5085" r="24623" b="3390"/>
          <a:stretch>
            <a:fillRect/>
          </a:stretch>
        </p:blipFill>
        <p:spPr>
          <a:xfrm>
            <a:off x="10668001" y="0"/>
            <a:ext cx="7620000" cy="10287000"/>
          </a:xfrm>
          <a:prstGeom prst="rect">
            <a:avLst/>
          </a:prstGeom>
        </p:spPr>
      </p:pic>
      <p:pic>
        <p:nvPicPr>
          <p:cNvPr id="8" name="Picture 7" descr="horiz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723900"/>
            <a:ext cx="2087336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144750" y="742950"/>
            <a:ext cx="2095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00">
                <a:solidFill>
                  <a:srgbClr val="9B96B8"/>
                </a:solidFill>
                <a:latin typeface="Montserrat SemiBold"/>
              </a:rPr>
              <a:t>V.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40957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260">
                <a:solidFill>
                  <a:srgbClr val="FFB22B"/>
                </a:solidFill>
                <a:latin typeface="Montserrat SemiBold"/>
              </a:rPr>
              <a:t>MANUAL DE MARCA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4457700"/>
            <a:ext cx="323850" cy="0"/>
          </a:xfrm>
          <a:prstGeom prst="line">
            <a:avLst/>
          </a:prstGeom>
          <a:ln w="2794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4629150"/>
            <a:ext cx="9525000" cy="285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0" spc="-120">
                <a:solidFill>
                  <a:srgbClr val="FFFFFF"/>
                </a:solidFill>
                <a:latin typeface="Montserrat SemiBold"/>
              </a:rPr>
              <a:t>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5981700"/>
            <a:ext cx="9525000" cy="285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1800" b="0" spc="-120">
                <a:solidFill>
                  <a:srgbClr val="FFFFFF"/>
                </a:solidFill>
                <a:latin typeface="Montserrat SemiBold"/>
              </a:rPr>
              <a:t>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7734300"/>
            <a:ext cx="8572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9B96B8"/>
                </a:solidFill>
                <a:latin typeface="Montserrat"/>
              </a:rPr>
              <a:t>Crédito estruturado para a economia real.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38250" y="9601200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8250" y="97536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00">
                <a:solidFill>
                  <a:srgbClr val="9B96B8"/>
                </a:solidFill>
                <a:latin typeface="Montserrat Medium"/>
              </a:rPr>
              <a:t>Solar Capital ·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260">
                <a:solidFill>
                  <a:srgbClr val="C88712"/>
                </a:solidFill>
                <a:latin typeface="Montserrat SemiBold"/>
              </a:rPr>
              <a:t>ÍNDICE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Sumário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590550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8A8374"/>
                </a:solidFill>
                <a:latin typeface="Montserrat"/>
              </a:rPr>
              <a:t>Este documento é a referência única para toda expressão da marca Solar Capital — do institucional ao produto. Onde houver divergência entre materiais, prevalece este manual.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8250" y="3543300"/>
            <a:ext cx="438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8250" y="3810000"/>
            <a:ext cx="53340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100">
                <a:solidFill>
                  <a:srgbClr val="8A8374"/>
                </a:solidFill>
                <a:latin typeface="Montserrat Medium"/>
              </a:rPr>
              <a:t>Aprovação de uso e novas aplicações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11E18"/>
                </a:solidFill>
                <a:latin typeface="Montserrat SemiBold"/>
              </a:rPr>
              <a:t>marca@solarcapital.com.br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0" y="9144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>
                <a:solidFill>
                  <a:srgbClr val="C88712"/>
                </a:solidFill>
                <a:latin typeface="Montserrat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0" y="857250"/>
            <a:ext cx="8286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-20">
                <a:solidFill>
                  <a:srgbClr val="211E18"/>
                </a:solidFill>
                <a:latin typeface="Montserrat SemiBold"/>
              </a:rPr>
              <a:t>A Marca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0" y="89535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 Medium"/>
              </a:rPr>
              <a:t>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39000" y="1428750"/>
            <a:ext cx="9810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39000" y="16192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>
                <a:solidFill>
                  <a:srgbClr val="C88712"/>
                </a:solidFill>
                <a:latin typeface="Montserrat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0" y="1562100"/>
            <a:ext cx="8286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-20">
                <a:solidFill>
                  <a:srgbClr val="211E18"/>
                </a:solidFill>
                <a:latin typeface="Montserrat SemiBold"/>
              </a:rPr>
              <a:t>Identidade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3000" y="160020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 Medium"/>
              </a:rPr>
              <a:t>13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39000" y="2133600"/>
            <a:ext cx="9810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39000" y="23241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>
                <a:solidFill>
                  <a:srgbClr val="C88712"/>
                </a:solidFill>
                <a:latin typeface="Montserrat Semi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0" y="2266950"/>
            <a:ext cx="8286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-20">
                <a:solidFill>
                  <a:srgbClr val="211E18"/>
                </a:solidFill>
                <a:latin typeface="Montserrat SemiBold"/>
              </a:rPr>
              <a:t>Cor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383000" y="230505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 Medium"/>
              </a:rPr>
              <a:t>19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39000" y="2838450"/>
            <a:ext cx="9810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239000" y="30289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>
                <a:solidFill>
                  <a:srgbClr val="C88712"/>
                </a:solidFill>
                <a:latin typeface="Montserrat SemiBol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2971800"/>
            <a:ext cx="8286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-20">
                <a:solidFill>
                  <a:srgbClr val="211E18"/>
                </a:solidFill>
                <a:latin typeface="Montserrat SemiBold"/>
              </a:rPr>
              <a:t>Tipografia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0" y="300990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 Medium"/>
              </a:rPr>
              <a:t>23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39000" y="3543300"/>
            <a:ext cx="9810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39000" y="37338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>
                <a:solidFill>
                  <a:srgbClr val="C88712"/>
                </a:solidFill>
                <a:latin typeface="Montserrat SemiBol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750" y="3676650"/>
            <a:ext cx="8286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-20">
                <a:solidFill>
                  <a:srgbClr val="211E18"/>
                </a:solidFill>
                <a:latin typeface="Montserrat SemiBold"/>
              </a:rPr>
              <a:t>Sistema Gráfico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83000" y="371475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 Medium"/>
              </a:rPr>
              <a:t>26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39000" y="4248150"/>
            <a:ext cx="9810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39000" y="44386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>
                <a:solidFill>
                  <a:srgbClr val="C88712"/>
                </a:solidFill>
                <a:latin typeface="Montserrat SemiBol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5750" y="4381500"/>
            <a:ext cx="8286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-20">
                <a:solidFill>
                  <a:srgbClr val="211E18"/>
                </a:solidFill>
                <a:latin typeface="Montserrat SemiBold"/>
              </a:rPr>
              <a:t>Tom de Voz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383000" y="441960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 Medium"/>
              </a:rPr>
              <a:t>29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39000" y="4953000"/>
            <a:ext cx="9810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39000" y="514350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00">
                <a:solidFill>
                  <a:srgbClr val="C88712"/>
                </a:solidFill>
                <a:latin typeface="Montserrat SemiBold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5750" y="5086350"/>
            <a:ext cx="8286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spc="-20">
                <a:solidFill>
                  <a:srgbClr val="211E18"/>
                </a:solidFill>
                <a:latin typeface="Montserrat SemiBold"/>
              </a:rPr>
              <a:t>Aplicações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83000" y="5124450"/>
            <a:ext cx="6667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 Medium"/>
              </a:rPr>
              <a:t>32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mbol_gold_wm10.png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1811000" y="381000"/>
            <a:ext cx="8567048" cy="952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382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906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430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954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43300"/>
            <a:ext cx="4762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spc="-200">
                <a:solidFill>
                  <a:srgbClr val="1C1446"/>
                </a:solidFill>
                <a:latin typeface="Montserrat SemiBold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5334000"/>
            <a:ext cx="219075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5600700"/>
            <a:ext cx="10477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spc="-60">
                <a:solidFill>
                  <a:srgbClr val="FFFFFF"/>
                </a:solidFill>
                <a:latin typeface="Montserrat SemiBold"/>
              </a:rPr>
              <a:t>A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5341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B96B8"/>
                </a:solidFill>
                <a:latin typeface="Montserrat"/>
              </a:rPr>
              <a:t>Posicionamento, propósito, atributos e arquitetura de marca — o que a Solar Capital é antes de como ela aparece.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FFFFFF"/>
                </a:solidFill>
                <a:latin typeface="Montserrat SemiBold"/>
              </a:rPr>
              <a:t>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2857500"/>
            <a:ext cx="14287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0" spc="-40">
                <a:solidFill>
                  <a:srgbClr val="FFFFFF"/>
                </a:solidFill>
                <a:latin typeface="Montserrat SemiBold"/>
              </a:rPr>
              <a:t>Capital não resolve nada sozinho.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spc="-40">
                <a:solidFill>
                  <a:srgbClr val="FFB22B"/>
                </a:solidFill>
                <a:latin typeface="Montserrat SemiBold"/>
              </a:rPr>
              <a:t>Estrutura resolve.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4572000"/>
            <a:ext cx="7620000" cy="161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B96B8"/>
                </a:solidFill>
                <a:latin typeface="Montserrat"/>
              </a:rPr>
              <a:t>Toda empresa tem uma dinâmica própria de caixa, de ativos e de risco. Por isso não partimos de um produto de prateleira: partimos do negócio que existe por trás da operação.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750" y="4572000"/>
            <a:ext cx="7620000" cy="161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9B96B8"/>
                </a:solidFill>
                <a:latin typeface="Montserrat"/>
              </a:rPr>
              <a:t>Estruturamos crédito para que boas empresas continuem crescendo — e para que o investidor acesse a economia real com disciplina, garantia e governança.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8250" y="6667500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8250" y="6915150"/>
            <a:ext cx="10477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-20">
                <a:solidFill>
                  <a:srgbClr val="FFB22B"/>
                </a:solidFill>
                <a:latin typeface="Montserrat SemiBold"/>
              </a:rPr>
              <a:t>Crédito estruturado para a economia real.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A história e a atuação da casa, em linguagem que pode ir direto para o site ou para uma proposta.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2857500"/>
            <a:ext cx="962025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2600" b="0" spc="-30">
                <a:solidFill>
                  <a:srgbClr val="211E18"/>
                </a:solidFill>
                <a:latin typeface="Montserrat SemiBold"/>
              </a:rPr>
              <a:t>Entender o negócio antes de estruturar o capital.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>
                <a:solidFill>
                  <a:srgbClr val="8A8374"/>
                </a:solidFill>
                <a:latin typeface="Montserrat"/>
              </a:rPr>
              <a:t>A Solar Capital nasceu em 2018 com foco em crédito para empresas e evoluiu sua atuação a partir de uma premissa simples: boas estruturas financeiras começam pelo entendimento profundo do negócio que existe por trás delas.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8A8374"/>
                </a:solidFill>
                <a:latin typeface="Montserrat"/>
              </a:rPr>
              <a:t>Hoje, atuamos na originação, estruturação e gestão de operações de crédito, conectando empresas a diferentes fontes de capital e investidores a oportunidades da economia real.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8250" y="5905500"/>
            <a:ext cx="38100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6076950"/>
            <a:ext cx="50673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1E18"/>
                </a:solidFill>
                <a:latin typeface="Montserrat SemiBold"/>
              </a:rPr>
              <a:t>Crédito Estruturado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6572250"/>
            <a:ext cx="50673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Capital de giro, antecipação de contratos, cadeia de fornecedores, recebíveis de cartão, consignado privado e gestão de fluxos.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10350" y="5905500"/>
            <a:ext cx="38100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10350" y="6076950"/>
            <a:ext cx="50673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1E18"/>
                </a:solidFill>
                <a:latin typeface="Montserrat SemiBold"/>
              </a:rPr>
              <a:t>Estruturação de FIDC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0350" y="6572250"/>
            <a:ext cx="50673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Do desenho à gestão de um fundo próprio, para empresas com escala e recorrência de originação.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982450" y="5905500"/>
            <a:ext cx="38100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982450" y="6076950"/>
            <a:ext cx="50673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1E18"/>
                </a:solidFill>
                <a:latin typeface="Montserrat SemiBold"/>
              </a:rPr>
              <a:t>Antecipação de Recebíveis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82450" y="6572250"/>
            <a:ext cx="50673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Operações pontuais, mais simples, para necessidades específicas de caixa.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Posicionamento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A Solar Capital é uma casa de crédito estruturado — não uma prestadora de serviços financeiros. Toda comunicação deve sustentar esse lugar.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7715250" cy="31432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19250" y="3467100"/>
            <a:ext cx="69532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00">
                <a:solidFill>
                  <a:srgbClr val="FFB22B"/>
                </a:solidFill>
                <a:latin typeface="Montserrat SemiBold"/>
              </a:rPr>
              <a:t>O QUE DIZEMOS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3829050"/>
            <a:ext cx="695325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FFFFF"/>
                </a:solidFill>
                <a:latin typeface="Montserrat SemiBold"/>
              </a:rPr>
              <a:t>“Somos uma casa de crédito estruturado. Entendemos empresas, estruturamos operações, acessamos capital e gerimos o risco.”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19250" y="5657850"/>
            <a:ext cx="695325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619250" y="5810250"/>
            <a:ext cx="695325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9B96B8"/>
                </a:solidFill>
                <a:latin typeface="Montserrat"/>
              </a:rPr>
              <a:t>Assinatura institucional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B22B"/>
                </a:solidFill>
                <a:latin typeface="Montserrat SemiBold"/>
              </a:rPr>
              <a:t>Crédito estruturado para a economia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34500" y="3143250"/>
            <a:ext cx="7715250" cy="314325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15500" y="3467100"/>
            <a:ext cx="69532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200">
                <a:solidFill>
                  <a:srgbClr val="8A8374"/>
                </a:solidFill>
                <a:latin typeface="Montserrat SemiBold"/>
              </a:rPr>
              <a:t>O QUE APOSENTAMOS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15500" y="3971925"/>
            <a:ext cx="114300" cy="0"/>
          </a:xfrm>
          <a:prstGeom prst="line">
            <a:avLst/>
          </a:prstGeom>
          <a:ln w="25400">
            <a:solidFill>
              <a:srgbClr val="C887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963150" y="3886200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8374"/>
                </a:solidFill>
                <a:latin typeface="Montserrat"/>
              </a:rPr>
              <a:t>“Energia para seu negócio porque falamos a mesma língua.”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15500" y="4600575"/>
            <a:ext cx="114300" cy="0"/>
          </a:xfrm>
          <a:prstGeom prst="line">
            <a:avLst/>
          </a:prstGeom>
          <a:ln w="25400">
            <a:solidFill>
              <a:srgbClr val="C887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963150" y="4514850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8374"/>
                </a:solidFill>
                <a:latin typeface="Montserrat"/>
              </a:rPr>
              <a:t>“Fôlego agora, sem a burocracia de um banco.”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15500" y="5229225"/>
            <a:ext cx="114300" cy="0"/>
          </a:xfrm>
          <a:prstGeom prst="line">
            <a:avLst/>
          </a:prstGeom>
          <a:ln w="25400">
            <a:solidFill>
              <a:srgbClr val="C8871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963150" y="5143500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8A8374"/>
                </a:solidFill>
                <a:latin typeface="Montserrat"/>
              </a:rPr>
              <a:t>Prateleira de produtos, urgência e tom de fintech de crédito.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15500" y="5848350"/>
            <a:ext cx="69532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15500" y="5981700"/>
            <a:ext cx="69532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Medium"/>
              </a:rPr>
              <a:t>Vendemos especialização — não urgência.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Por que somos diferentes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O mesmo problema — crédito para uma empresa que não cabe no produto de prateleira — recebe respostas distintas. A estrutura é o que muda.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5350" y="306705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BANCO TRADICIONAL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3450" y="306705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FINTECH DE CRÉDITO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49150" y="2933700"/>
            <a:ext cx="4800600" cy="62293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01550" y="3067050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FFB22B"/>
                </a:solidFill>
                <a:latin typeface="Montserrat SemiBold"/>
              </a:rPr>
              <a:t>SOLAR CAPITAL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8250" y="3257550"/>
            <a:ext cx="156591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8250" y="3390900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SemiBold"/>
              </a:rPr>
              <a:t>Como analisamos o risco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5350" y="33909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Modelo padronizado e score genérico, sem olhar a operação.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3450" y="33909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Modelo automatizado, decide por dados de conta — rápido, mas raso.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01550" y="3390900"/>
            <a:ext cx="44958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ontserrat"/>
              </a:rPr>
              <a:t>Análise individual: recebíveis, garantias e capacidade de pagamento do negócio real.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38250" y="4667250"/>
            <a:ext cx="156591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8250" y="4800600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SemiBold"/>
              </a:rPr>
              <a:t>Como a operação é estruturada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5350" y="48006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Produto de prateleira, mesma linha para qualquer empresa.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3450" y="48006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Produto digital padronizado, pouca margem de customização.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01550" y="4800600"/>
            <a:ext cx="44958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ontserrat"/>
              </a:rPr>
              <a:t>Estrutura sob medida — FIDC próprio quando a escala da empresa justifica.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38250" y="6076950"/>
            <a:ext cx="156591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38250" y="6210300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SemiBold"/>
              </a:rPr>
              <a:t>Governança para o investidor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5350" y="62103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Não se aplica — crédito fica no balanço do banco.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3450" y="62103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Baixa transparência, sem custódia ou rating independente.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01550" y="6210300"/>
            <a:ext cx="44958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ontserrat"/>
              </a:rPr>
              <a:t>Custódia, rating e data-base publicados em cada fundo.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38250" y="7486650"/>
            <a:ext cx="156591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38250" y="7620000"/>
            <a:ext cx="3048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SemiBold"/>
              </a:rPr>
              <a:t>Velocidade de decisão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350" y="76200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Lenta — passa por comitê e alçadas internas.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3450" y="7620000"/>
            <a:ext cx="3429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Rápida, mas descolada do fôlego real da empresa.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01550" y="7620000"/>
            <a:ext cx="44958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ontserrat"/>
              </a:rPr>
              <a:t>Rápida porque a originação já nasce estruturada, não porque pula etapas.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Propósito, visão e valores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38250" y="27813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238250" y="3143250"/>
            <a:ext cx="857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8712"/>
                </a:solidFill>
                <a:latin typeface="Montserrat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8250" y="3752850"/>
            <a:ext cx="4889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80">
                <a:solidFill>
                  <a:srgbClr val="8A8374"/>
                </a:solidFill>
                <a:latin typeface="Montserrat SemiBold"/>
              </a:rPr>
              <a:t>PROPÓSITO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4057650"/>
            <a:ext cx="48895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11E18"/>
                </a:solidFill>
                <a:latin typeface="Montserrat SemiBold"/>
              </a:rPr>
              <a:t>Estruturar capital para que boas empresas continuem crescendo.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5238750"/>
            <a:ext cx="48895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E oferecer ao investidor acesso a estratégias de crédito construídas com disciplina, governança e alinhamento de interesses.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13500" y="3143250"/>
            <a:ext cx="0" cy="314325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9250" y="3143250"/>
            <a:ext cx="857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8712"/>
                </a:solidFill>
                <a:latin typeface="Montserrat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9250" y="3752850"/>
            <a:ext cx="4889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80">
                <a:solidFill>
                  <a:srgbClr val="8A8374"/>
                </a:solidFill>
                <a:latin typeface="Montserrat SemiBold"/>
              </a:rPr>
              <a:t>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9250" y="4057650"/>
            <a:ext cx="4889500" cy="104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11E18"/>
                </a:solidFill>
                <a:latin typeface="Montserrat SemiBold"/>
              </a:rPr>
              <a:t>Ser a casa procurada quando a operação exige estrutura, não produto.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9250" y="5238750"/>
            <a:ext cx="48895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Reconhecida por empresas e investidores pela qualidade da originação e pelo rigor na análise de cada operação.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0250" y="3143250"/>
            <a:ext cx="857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C88712"/>
                </a:solidFill>
                <a:latin typeface="Montserrat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0250" y="3752850"/>
            <a:ext cx="4889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80">
                <a:solidFill>
                  <a:srgbClr val="8A8374"/>
                </a:solidFill>
                <a:latin typeface="Montserrat SemiBold"/>
              </a:rPr>
              <a:t>VALORES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35500" y="3143250"/>
            <a:ext cx="0" cy="314325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160250" y="43053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160250" y="4038600"/>
            <a:ext cx="4889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Medium"/>
              </a:rPr>
              <a:t>Disciplina de crédito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160250" y="474345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160250" y="4476750"/>
            <a:ext cx="4889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Medium"/>
              </a:rPr>
              <a:t>Proximidade com o negócio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60250" y="51816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160250" y="4914900"/>
            <a:ext cx="4889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Medium"/>
              </a:rPr>
              <a:t>Transparência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160250" y="561975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160250" y="5353050"/>
            <a:ext cx="4889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Medium"/>
              </a:rPr>
              <a:t>Segurança jurídica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160250" y="60579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160250" y="5791200"/>
            <a:ext cx="48895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Medium"/>
              </a:rPr>
              <a:t>Alinhamento de interesses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Atributos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Quatro atributos governam decisões de design, redação e produto. Se uma peça não sustenta os quatro, ela não é Solar.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375285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38250" y="3143250"/>
            <a:ext cx="375285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4000" y="3467100"/>
            <a:ext cx="31813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8712"/>
                </a:solidFill>
                <a:latin typeface="Montserrat Semi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3867150"/>
            <a:ext cx="31813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-20">
                <a:solidFill>
                  <a:srgbClr val="211E18"/>
                </a:solidFill>
                <a:latin typeface="Montserrat SemiBold"/>
              </a:rPr>
              <a:t>Institucional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419600"/>
            <a:ext cx="3181350" cy="200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Sobriedade de asset manager. Sem promessa fácil, sem gatilho de urgência, sem linguagem de varejo.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3143250"/>
            <a:ext cx="375285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57800" y="3143250"/>
            <a:ext cx="375285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43550" y="3467100"/>
            <a:ext cx="31813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8712"/>
                </a:solidFill>
                <a:latin typeface="Montserrat Semi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3550" y="3867150"/>
            <a:ext cx="31813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-20">
                <a:solidFill>
                  <a:srgbClr val="211E18"/>
                </a:solidFill>
                <a:latin typeface="Montserrat SemiBold"/>
              </a:rPr>
              <a:t>Estrutural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3550" y="4419600"/>
            <a:ext cx="3181350" cy="200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Tudo é construído: grid visível, hierarquia clara, números organizados. A forma comunica engenharia financeira.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77350" y="3143250"/>
            <a:ext cx="375285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77350" y="3143250"/>
            <a:ext cx="375285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63100" y="3467100"/>
            <a:ext cx="31813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8712"/>
                </a:solidFill>
                <a:latin typeface="Montserrat Semi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3100" y="3867150"/>
            <a:ext cx="31813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-20">
                <a:solidFill>
                  <a:srgbClr val="211E18"/>
                </a:solidFill>
                <a:latin typeface="Montserrat SemiBold"/>
              </a:rPr>
              <a:t>Próximo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3100" y="4419600"/>
            <a:ext cx="3181350" cy="200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Falamos com quem decide, em português direto. Institucional não significa distante nem burocrático.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96900" y="3143250"/>
            <a:ext cx="3752850" cy="36195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3296900" y="3143250"/>
            <a:ext cx="375285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582650" y="3467100"/>
            <a:ext cx="318135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B22B"/>
                </a:solidFill>
                <a:latin typeface="Montserrat Semi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82650" y="3867150"/>
            <a:ext cx="31813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spc="-20">
                <a:solidFill>
                  <a:srgbClr val="FFFFFF"/>
                </a:solidFill>
                <a:latin typeface="Montserrat SemiBold"/>
              </a:rPr>
              <a:t>Preciso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82650" y="4419600"/>
            <a:ext cx="3181350" cy="200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Nenhum número sem data-base. Nenhuma afirmação sem lastro. Precisão é parte da estética.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FFFFFF"/>
                </a:solidFill>
                <a:latin typeface="Montserrat SemiBold"/>
              </a:rPr>
              <a:t>A Solar em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9B96B8"/>
                </a:solidFill>
                <a:latin typeface="Montserrat"/>
              </a:rPr>
              <a:t>Cinco fatos que sustentam o posicionamento — todos com data-base.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4000500"/>
            <a:ext cx="27813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Montserrat SemiBold"/>
              </a:rPr>
              <a:t>R$ 850</a:t>
            </a:r>
            <a:r>
              <a:rPr sz="2000" b="0">
                <a:solidFill>
                  <a:srgbClr val="FFB22B"/>
                </a:solidFill>
                <a:latin typeface="Montserrat Medium"/>
              </a:rPr>
              <a:t>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8250" y="4781550"/>
            <a:ext cx="26289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Patrimônio sob gestão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00550" y="3905250"/>
            <a:ext cx="0" cy="152400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43450" y="4000500"/>
            <a:ext cx="27813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Montserrat SemiBold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450" y="4781550"/>
            <a:ext cx="26289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FIDCs em operação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62850" y="3905250"/>
            <a:ext cx="0" cy="152400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05750" y="4000500"/>
            <a:ext cx="27813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Montserrat SemiBold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0" y="4781550"/>
            <a:ext cx="26289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Cedentes ativos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25150" y="3905250"/>
            <a:ext cx="0" cy="152400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068050" y="4000500"/>
            <a:ext cx="27813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Montserrat SemiBold"/>
              </a:rPr>
              <a:t>4.500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8050" y="4781550"/>
            <a:ext cx="26289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Sacados ativos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887450" y="3905250"/>
            <a:ext cx="0" cy="152400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230350" y="4000500"/>
            <a:ext cx="27813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Montserrat SemiBold"/>
              </a:rPr>
              <a:t>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30350" y="4781550"/>
            <a:ext cx="26289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Fundação da gestora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38250" y="6667500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38250" y="6858000"/>
            <a:ext cx="11430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 Medium"/>
              </a:rPr>
              <a:t>Fonte: solarcapital.com.br · base julho de 2026. Atualizar a cada publicação.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Arquitetura de marca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Marca única, endosso simples. Fundos nunca ganham logo próprio — herdam a marca-mãe e se diferenciam por nome e números.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4095750" cy="19050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oriz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482" y="3714750"/>
            <a:ext cx="3211286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50" y="5219700"/>
            <a:ext cx="4095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80">
                <a:solidFill>
                  <a:srgbClr val="8A8374"/>
                </a:solidFill>
                <a:latin typeface="Montserrat SemiBold"/>
              </a:rPr>
              <a:t>MARCA-MÃE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5505450"/>
            <a:ext cx="409575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Única marca visual do grupo. Assina institucional, empresas, fundos e produto digital.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3143250"/>
            <a:ext cx="113347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80">
                <a:solidFill>
                  <a:srgbClr val="8A8374"/>
                </a:solidFill>
                <a:latin typeface="Montserrat SemiBold"/>
              </a:rPr>
              <a:t>OS QUATRO FIDCS EM OPERAÇÃO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" y="3905250"/>
            <a:ext cx="11334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15000" y="34861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Solar I FIDC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0" y="3514725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Multicedente / Multissacado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486150"/>
            <a:ext cx="11334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8712"/>
                </a:solidFill>
                <a:latin typeface="Montserrat SemiBold"/>
              </a:rPr>
              <a:t>R$ 61,88 mi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" y="4343400"/>
            <a:ext cx="11334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15000" y="39243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Solar Puglia FIDC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0" y="3952875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Proprietário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924300"/>
            <a:ext cx="11334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8712"/>
                </a:solidFill>
                <a:latin typeface="Montserrat SemiBold"/>
              </a:rPr>
              <a:t>R$ 311,16 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15000" y="4781550"/>
            <a:ext cx="11334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15000" y="436245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Solar Vialoc FIDC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0" y="4391025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Proprietário · Grupo Supporte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362450"/>
            <a:ext cx="11334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8712"/>
                </a:solidFill>
                <a:latin typeface="Montserrat SemiBold"/>
              </a:rPr>
              <a:t>R$ 65,17 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15000" y="5219700"/>
            <a:ext cx="1133475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15000" y="4800600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Solar Belmonte FIDC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0" y="4829175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Proprietário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4800600"/>
            <a:ext cx="11334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88712"/>
                </a:solidFill>
                <a:latin typeface="Montserrat SemiBold"/>
              </a:rPr>
              <a:t>R$ 24,92 mi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353050"/>
            <a:ext cx="113347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 Medium"/>
              </a:rPr>
              <a:t>Custódia Singulare · Rating Austin Rating · base jul/2026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8250" y="5619750"/>
            <a:ext cx="15811500" cy="10287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38250" y="5619750"/>
            <a:ext cx="38100" cy="10287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19250" y="5810250"/>
            <a:ext cx="1333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80">
                <a:solidFill>
                  <a:srgbClr val="C88712"/>
                </a:solidFill>
                <a:latin typeface="Montserrat SemiBold"/>
              </a:rPr>
              <a:t>REGRA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19250" y="6076950"/>
            <a:ext cx="15049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"/>
              </a:rPr>
              <a:t>Fundo, frente de atuação ou material comercial não cria logo, monograma alternativo, selo ou lettering próprio. Diferenciação acontece por nome e por hierarquia tipográfica — nunca por marca nova.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01 — A Marca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Liderança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Três sócios sustentam a tese de crédito estruturado — a experiência deles é parte do argumento institucional.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8250" y="3143250"/>
            <a:ext cx="501650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8250" y="3352800"/>
            <a:ext cx="5016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-20">
                <a:solidFill>
                  <a:srgbClr val="211E18"/>
                </a:solidFill>
                <a:latin typeface="Montserrat SemiBold"/>
              </a:rPr>
              <a:t>Leonardo Ciasca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8250" y="3695700"/>
            <a:ext cx="5016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40">
                <a:solidFill>
                  <a:srgbClr val="C88712"/>
                </a:solidFill>
                <a:latin typeface="Montserrat SemiBold"/>
              </a:rPr>
              <a:t>FOUNDER &amp; MANAGING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4057650"/>
            <a:ext cx="5016500" cy="247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Mais de 25 anos no mercado financeiro. Managing Partner na Goal Capital (2012–2018) e Managing Director de Novos Projetos e RI na Global Capital (2005–2011), com sete anos de Middle Market/Corporate no HSBC. MBA em Comunicação e RI pela USP.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35750" y="3143250"/>
            <a:ext cx="501650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35750" y="3352800"/>
            <a:ext cx="5016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-20">
                <a:solidFill>
                  <a:srgbClr val="211E18"/>
                </a:solidFill>
                <a:latin typeface="Montserrat SemiBold"/>
              </a:rPr>
              <a:t>Diego Moreno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5750" y="3695700"/>
            <a:ext cx="5016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40">
                <a:solidFill>
                  <a:srgbClr val="C88712"/>
                </a:solidFill>
                <a:latin typeface="Montserrat SemiBold"/>
              </a:rPr>
              <a:t>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5750" y="4057650"/>
            <a:ext cx="5016500" cy="247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Mais de 20 anos em crédito privado, private equity e investment banking. CFO da BrSurgery (2020–2023), Head of Healthcare Latin America na Fosun (2017–2020) e VP de Equity Research no Bank of America Merrill Lynch. Formado em Administração pela FEA-USP.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33250" y="3143250"/>
            <a:ext cx="501650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033250" y="3352800"/>
            <a:ext cx="5016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spc="-20">
                <a:solidFill>
                  <a:srgbClr val="211E18"/>
                </a:solidFill>
                <a:latin typeface="Montserrat SemiBold"/>
              </a:rPr>
              <a:t>Luiz Simione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33250" y="3695700"/>
            <a:ext cx="5016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40">
                <a:solidFill>
                  <a:srgbClr val="C88712"/>
                </a:solidFill>
                <a:latin typeface="Montserrat SemiBold"/>
              </a:rPr>
              <a:t>PARTNER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33250" y="4057650"/>
            <a:ext cx="5016500" cy="247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Décadas de experiência em finanças para Ásia e América Latina. CEO Asia do Banco Bradesco (2016–2018) e 18 anos no HSBC como Managing Director, incluindo Global Head of Forfaiting. MBA pelo IMD.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mbol_gold_wm10.png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1811000" y="381000"/>
            <a:ext cx="8567048" cy="952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382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906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430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954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43300"/>
            <a:ext cx="4762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spc="-200">
                <a:solidFill>
                  <a:srgbClr val="1C1446"/>
                </a:solidFill>
                <a:latin typeface="Montserrat SemiBold"/>
              </a:rPr>
              <a:t>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5334000"/>
            <a:ext cx="219075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5600700"/>
            <a:ext cx="10477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spc="-60">
                <a:solidFill>
                  <a:srgbClr val="FFFFFF"/>
                </a:solidFill>
                <a:latin typeface="Montserrat SemiBold"/>
              </a:rPr>
              <a:t>Identidade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5341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B96B8"/>
                </a:solidFill>
                <a:latin typeface="Montserrat"/>
              </a:rPr>
              <a:t>Símbolo, lockups, área de respiro, comportamento sobre fundos e usos vetados.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02 — Identidade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O símbolo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2857500"/>
            <a:ext cx="5905500" cy="2476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>
                <a:solidFill>
                  <a:srgbClr val="8A8374"/>
                </a:solidFill>
                <a:latin typeface="Montserrat"/>
              </a:rPr>
              <a:t>O monograma une </a:t>
            </a:r>
            <a:r>
              <a:rPr sz="1550" b="1">
                <a:solidFill>
                  <a:srgbClr val="211E18"/>
                </a:solidFill>
                <a:latin typeface="Montserrat"/>
              </a:rPr>
              <a:t>S</a:t>
            </a:r>
            <a:r>
              <a:rPr sz="1550" b="0">
                <a:solidFill>
                  <a:srgbClr val="8A8374"/>
                </a:solidFill>
                <a:latin typeface="Montserrat"/>
              </a:rPr>
              <a:t> e </a:t>
            </a:r>
            <a:r>
              <a:rPr sz="1550" b="1">
                <a:solidFill>
                  <a:srgbClr val="211E18"/>
                </a:solidFill>
                <a:latin typeface="Montserrat"/>
              </a:rPr>
              <a:t>C</a:t>
            </a:r>
            <a:r>
              <a:rPr sz="1550" b="0">
                <a:solidFill>
                  <a:srgbClr val="8A8374"/>
                </a:solidFill>
                <a:latin typeface="Montserrat"/>
              </a:rPr>
              <a:t> em traço único e contínuo: dois arcos concêntricos cortados por uma diagonal que nasce de um e termina no outro.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8A8374"/>
                </a:solidFill>
                <a:latin typeface="Montserrat"/>
              </a:rPr>
              <a:t>É a leitura visual do que fazemos: </a:t>
            </a:r>
            <a:r>
              <a:rPr sz="1550" b="1">
                <a:solidFill>
                  <a:srgbClr val="211E18"/>
                </a:solidFill>
                <a:latin typeface="Montserrat"/>
              </a:rPr>
              <a:t>a diagonal conecta duas pontas que não se tocariam sozinhas</a:t>
            </a:r>
            <a:r>
              <a:rPr sz="1550" b="0">
                <a:solidFill>
                  <a:srgbClr val="8A8374"/>
                </a:solidFill>
                <a:latin typeface="Montserrat"/>
              </a:rPr>
              <a:t> — empresa e capital.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8250" y="5715000"/>
            <a:ext cx="4953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8250" y="5962650"/>
            <a:ext cx="5905500" cy="1333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0" spc="160">
                <a:solidFill>
                  <a:srgbClr val="8A8374"/>
                </a:solidFill>
                <a:latin typeface="Montserrat SemiBold"/>
              </a:rPr>
              <a:t>ORIGEM DO ARQUIVO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Todas as versões deste manual foram geradas a partir do vetor original da marca (SVG/EPS), preservando curvas, espessura e proporção. Nenhum contorno foi redesenhado à mão.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0" y="2857500"/>
            <a:ext cx="4762500" cy="5810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4800" y="3124200"/>
            <a:ext cx="4152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60">
                <a:solidFill>
                  <a:srgbClr val="8A8374"/>
                </a:solidFill>
                <a:latin typeface="Montserrat SemiBold"/>
              </a:rPr>
              <a:t>CONSTRUÇÃO · GRADE 8×8</a:t>
            </a:r>
          </a:p>
        </p:txBody>
      </p:sp>
      <p:pic>
        <p:nvPicPr>
          <p:cNvPr id="9" name="Picture 8" descr="symbol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676" y="3714750"/>
            <a:ext cx="3341149" cy="3714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24800" y="7810500"/>
            <a:ext cx="41529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A altura do símbolo equivale a 8 módulos; a espessura do traço, a 1 módulo. Toda redução mantém essa relação.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02 — Identidade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Versões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Três lockups cobrem todas as necessidades. A escolha é definida pela proporção do espaço, não por preferência.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501650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vert_navy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87" y="3524250"/>
            <a:ext cx="1563225" cy="1619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50" y="5772150"/>
            <a:ext cx="5016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1E18"/>
                </a:solidFill>
                <a:latin typeface="Montserrat SemiBold"/>
              </a:rPr>
              <a:t>Vertical —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6115050"/>
            <a:ext cx="5016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Capas, formatos quadrados, materiais institucionais e assinatura de peças.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35750" y="3143250"/>
            <a:ext cx="5016500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horiz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50" y="3829104"/>
            <a:ext cx="4254500" cy="10095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5750" y="5772150"/>
            <a:ext cx="5016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1E18"/>
                </a:solidFill>
                <a:latin typeface="Montserrat SemiBold"/>
              </a:rPr>
              <a:t>Horizontal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5750" y="6115050"/>
            <a:ext cx="5016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Cabeçalhos de site, assinatura de e-mail, documentos e rodapés.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33250" y="3143250"/>
            <a:ext cx="5016500" cy="23812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ymbol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3301" y="3524250"/>
            <a:ext cx="1456398" cy="1619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33250" y="5772150"/>
            <a:ext cx="5016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11E18"/>
                </a:solidFill>
                <a:latin typeface="Montserrat SemiBold"/>
              </a:rPr>
              <a:t>Símbolo isolado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33250" y="6115050"/>
            <a:ext cx="50165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Avatares, app icon, favicon e espaços onde o wordmark seria ilegível.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02 — Identidade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Respiro e redução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A unidade de medida é X — a espessura do traço do monograma. Nada invade essa margem: texto, imagem, borda ou outro logo.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895350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95500" y="4000500"/>
            <a:ext cx="7239000" cy="1905000"/>
          </a:xfrm>
          <a:prstGeom prst="rect">
            <a:avLst/>
          </a:prstGeom>
          <a:noFill/>
          <a:ln w="15875">
            <a:solidFill>
              <a:srgbClr val="FFB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oriz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5" y="4286250"/>
            <a:ext cx="5619750" cy="1333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62150" y="3619500"/>
            <a:ext cx="571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8712"/>
                </a:solidFill>
                <a:latin typeface="Montserrat SemiBold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9700" y="4857750"/>
            <a:ext cx="571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88712"/>
                </a:solidFill>
                <a:latin typeface="Montserrat SemiBold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6229350"/>
            <a:ext cx="8382000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Margem mínima em todos os lados = 1X. Em aplicações institucionais, prefira 1,5X.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72750" y="3143250"/>
            <a:ext cx="6477000" cy="36195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15650" y="3429000"/>
            <a:ext cx="5791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60">
                <a:solidFill>
                  <a:srgbClr val="8A8374"/>
                </a:solidFill>
                <a:latin typeface="Montserrat SemiBold"/>
              </a:rPr>
              <a:t>TAMANHO MÍNIMO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5650" y="3905250"/>
            <a:ext cx="579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SemiBold"/>
              </a:rPr>
              <a:t>Horizontal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5650" y="4191000"/>
            <a:ext cx="579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32 mm impresso · 140 px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5650" y="4743450"/>
            <a:ext cx="579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SemiBold"/>
              </a:rPr>
              <a:t>Vertical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5650" y="5029200"/>
            <a:ext cx="579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18 mm impresso · 80 px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5650" y="5581650"/>
            <a:ext cx="579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211E18"/>
                </a:solidFill>
                <a:latin typeface="Montserrat SemiBold"/>
              </a:rPr>
              <a:t>Símbolo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5650" y="5867400"/>
            <a:ext cx="5791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8 mm impresso · 32 px digital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02 — Identidade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Comportamento sobre fundos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O dourado só é permitido sobre navy ou preto. Sobre fundos claros, o símbolo é navy — nunca dourado.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3752850" cy="21907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vert_gol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44" y="3467100"/>
            <a:ext cx="1489662" cy="1543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50" y="5524500"/>
            <a:ext cx="37528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Sobre navy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50" y="5829300"/>
            <a:ext cx="375285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Padrão institucional. Símbolo dourado, wordmark branco.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3143250"/>
            <a:ext cx="3752850" cy="219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vert_navy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394" y="3467100"/>
            <a:ext cx="1489662" cy="15430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57800" y="5524500"/>
            <a:ext cx="37528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Sobre claro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5829300"/>
            <a:ext cx="375285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Monocromático navy integral. Documentos e papelaria.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77350" y="3143250"/>
            <a:ext cx="3752850" cy="21907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vert_navy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944" y="3467100"/>
            <a:ext cx="1489662" cy="1543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77350" y="5524500"/>
            <a:ext cx="37528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Sobre dourado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7350" y="5829300"/>
            <a:ext cx="375285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Somente navy. Usado em divisores e peças de destaque.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296900" y="3143250"/>
            <a:ext cx="3752850" cy="2190750"/>
          </a:xfrm>
          <a:prstGeom prst="rect">
            <a:avLst/>
          </a:prstGeom>
          <a:solidFill>
            <a:srgbClr val="55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vert_white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8494" y="3467100"/>
            <a:ext cx="1489662" cy="1543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296900" y="5524500"/>
            <a:ext cx="3752850" cy="266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Sobre imagem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96900" y="5829300"/>
            <a:ext cx="375285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Versão branca integral, com máscara navy a 50% sob a marca.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38250" y="83820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38250" y="8572500"/>
            <a:ext cx="1581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Contraste mínimo exigido para a marca sobre qualquer fundo: </a:t>
            </a:r>
            <a:r>
              <a:rPr sz="1350" b="1">
                <a:solidFill>
                  <a:srgbClr val="211E18"/>
                </a:solidFill>
                <a:latin typeface="Montserrat"/>
              </a:rPr>
              <a:t>4,5:1</a:t>
            </a:r>
            <a:r>
              <a:rPr sz="1350" b="0">
                <a:solidFill>
                  <a:srgbClr val="8A8374"/>
                </a:solidFill>
                <a:latin typeface="Montserrat"/>
              </a:rPr>
              <a:t>. Dourado sobre branco atinge apenas 1,8:1 — por isso é vetado.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02 — Identidade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Usos incorretos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Seis erros cobrem quase toda ocorrência real. Nenhum deles é aceitável, em nenhum canal.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50927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4950" y="33528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88712"/>
                </a:solidFill>
                <a:latin typeface="Montserrat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4950" y="3771900"/>
            <a:ext cx="45593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Distorcer, achatar ou esticar as proporções.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97650" y="3143250"/>
            <a:ext cx="50927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4350" y="33528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88712"/>
                </a:solidFill>
                <a:latin typeface="Montserrat Semi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4350" y="3771900"/>
            <a:ext cx="45593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Rotacionar, inclinar ou espelhar o símbolo.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57050" y="3143250"/>
            <a:ext cx="50927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23750" y="33528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88712"/>
                </a:solidFill>
                <a:latin typeface="Montserrat Semi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23750" y="3771900"/>
            <a:ext cx="45593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Recolorir fora da paleta oficial.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8250" y="5010150"/>
            <a:ext cx="50927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04950" y="52197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88712"/>
                </a:solidFill>
                <a:latin typeface="Montserrat Semi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50" y="5638800"/>
            <a:ext cx="45593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Invadir a área de respiro com borda ou texto.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97650" y="5010150"/>
            <a:ext cx="50927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4350" y="52197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88712"/>
                </a:solidFill>
                <a:latin typeface="Montserrat Semi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4350" y="5638800"/>
            <a:ext cx="45593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Dourado sobre branco ou fundo claro (1,8:1).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957050" y="5010150"/>
            <a:ext cx="50927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223750" y="5219700"/>
            <a:ext cx="5715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C88712"/>
                </a:solidFill>
                <a:latin typeface="Montserrat SemiBol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23750" y="5638800"/>
            <a:ext cx="45593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Redigitar o wordmark em outra fonte.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mbol_gold_wm10.png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1811000" y="381000"/>
            <a:ext cx="8567048" cy="952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382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906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430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954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43300"/>
            <a:ext cx="4762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spc="-200">
                <a:solidFill>
                  <a:srgbClr val="1C1446"/>
                </a:solidFill>
                <a:latin typeface="Montserrat SemiBold"/>
              </a:rP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5334000"/>
            <a:ext cx="219075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5600700"/>
            <a:ext cx="10477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spc="-60">
                <a:solidFill>
                  <a:srgbClr val="FFFFFF"/>
                </a:solidFill>
                <a:latin typeface="Montserrat SemiBold"/>
              </a:rPr>
              <a:t>Cor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5341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B96B8"/>
                </a:solidFill>
                <a:latin typeface="Montserrat"/>
              </a:rPr>
              <a:t>Paleta principal, cores de apoio, proporção de uso e conversões para impressão.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03 —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Paleta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Duas cores carregam a marca. Navy é a base institucional; dourado é o acento de ação — usado com escassez.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7715250" cy="31432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19250" y="3467100"/>
            <a:ext cx="6953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80">
                <a:solidFill>
                  <a:srgbClr val="FFB22B"/>
                </a:solidFill>
                <a:latin typeface="Montserrat SemiBold"/>
              </a:rPr>
              <a:t>COR PRIMÁRIA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3752850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-40">
                <a:solidFill>
                  <a:srgbClr val="FFFFFF"/>
                </a:solidFill>
                <a:latin typeface="Montserrat SemiBold"/>
              </a:rPr>
              <a:t>Solar Navy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9250" y="4419600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Base de toda peça institucional: capas, hero, seções escuras e tipografia de título sobre claro.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533400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 Medium"/>
              </a:rPr>
              <a:t>HEX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1750" y="5334000"/>
            <a:ext cx="581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ontserrat SemiBold"/>
              </a:rPr>
              <a:t>#070222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56197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 Medium"/>
              </a:rPr>
              <a:t>RGB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750" y="5619750"/>
            <a:ext cx="581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ontserrat SemiBold"/>
              </a:rPr>
              <a:t>7 · 2 ·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9250" y="590550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 Medium"/>
              </a:rPr>
              <a:t>CMYK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5905500"/>
            <a:ext cx="581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ontserrat SemiBold"/>
              </a:rPr>
              <a:t>95 · 90 · 55 · 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34500" y="3143250"/>
            <a:ext cx="7715250" cy="31432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15500" y="3467100"/>
            <a:ext cx="6953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80">
                <a:solidFill>
                  <a:srgbClr val="070222"/>
                </a:solidFill>
                <a:latin typeface="Montserrat SemiBold"/>
              </a:rPr>
              <a:t>COR DE ACENTO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0" y="3752850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-40">
                <a:solidFill>
                  <a:srgbClr val="070222"/>
                </a:solidFill>
                <a:latin typeface="Montserrat SemiBold"/>
              </a:rPr>
              <a:t>Solar 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5500" y="4419600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3508"/>
                </a:solidFill>
                <a:latin typeface="Montserrat"/>
              </a:rPr>
              <a:t>Marca a ação principal e os divisores de seção. Um único destaque dourado por tela.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0" y="533400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4D0C"/>
                </a:solidFill>
                <a:latin typeface="Montserrat Medium"/>
              </a:rPr>
              <a:t>HEX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68000" y="5334000"/>
            <a:ext cx="581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0222"/>
                </a:solidFill>
                <a:latin typeface="Montserrat SemiBold"/>
              </a:rPr>
              <a:t>#FFB22B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0" y="56197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4D0C"/>
                </a:solidFill>
                <a:latin typeface="Montserrat Medium"/>
              </a:rPr>
              <a:t>RGB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0" y="5619750"/>
            <a:ext cx="581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0222"/>
                </a:solidFill>
                <a:latin typeface="Montserrat SemiBold"/>
              </a:rPr>
              <a:t>255 · 178 · 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5500" y="590550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4D0C"/>
                </a:solidFill>
                <a:latin typeface="Montserrat Medium"/>
              </a:rPr>
              <a:t>CMYK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0" y="5905500"/>
            <a:ext cx="5810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70222"/>
                </a:solidFill>
                <a:latin typeface="Montserrat SemiBold"/>
              </a:rPr>
              <a:t>0 · 32 · 90 · 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38250" y="657225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38250" y="6743700"/>
            <a:ext cx="1581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Dourado sobre navy alcança contraste </a:t>
            </a:r>
            <a:r>
              <a:rPr sz="1350" b="1">
                <a:solidFill>
                  <a:srgbClr val="211E18"/>
                </a:solidFill>
                <a:latin typeface="Montserrat"/>
              </a:rPr>
              <a:t>11,2:1</a:t>
            </a:r>
            <a:r>
              <a:rPr sz="1350" b="0">
                <a:solidFill>
                  <a:srgbClr val="8A8374"/>
                </a:solidFill>
                <a:latin typeface="Montserrat"/>
              </a:rPr>
              <a:t> — aprovado em nível AAA para texto e interface. Valores CMYK devem ser validados com prova impressa antes de tiragem.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03 —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Apoio e funcionais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Superfícies dão respiro ao documento. Cores funcionais existem para informar estado — nunca para decorar.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30099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80">
                <a:solidFill>
                  <a:srgbClr val="8A8374"/>
                </a:solidFill>
                <a:latin typeface="Montserrat SemiBold"/>
              </a:rPr>
              <a:t>SUPERFÍCIES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8250" y="3352800"/>
            <a:ext cx="3752850" cy="1428750"/>
          </a:xfrm>
          <a:prstGeom prst="rect">
            <a:avLst/>
          </a:prstGeom>
          <a:solidFill>
            <a:srgbClr val="FAF7F1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6850" y="4933950"/>
            <a:ext cx="3295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50" y="5219700"/>
            <a:ext cx="32956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 Medium"/>
              </a:rPr>
              <a:t>#FAF7F1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3352800"/>
            <a:ext cx="3752850" cy="1428750"/>
          </a:xfrm>
          <a:prstGeom prst="rect">
            <a:avLst/>
          </a:prstGeom>
          <a:solidFill>
            <a:srgbClr val="F1ECE2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4933950"/>
            <a:ext cx="3295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Paper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219700"/>
            <a:ext cx="32956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 Medium"/>
              </a:rPr>
              <a:t>#F1ECE2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7350" y="3352800"/>
            <a:ext cx="3752850" cy="1428750"/>
          </a:xfrm>
          <a:prstGeom prst="rect">
            <a:avLst/>
          </a:prstGeom>
          <a:solidFill>
            <a:srgbClr val="120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5950" y="4933950"/>
            <a:ext cx="3295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Navy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5950" y="5219700"/>
            <a:ext cx="32956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 Medium"/>
              </a:rPr>
              <a:t>#12093A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96900" y="3352800"/>
            <a:ext cx="3752850" cy="1428750"/>
          </a:xfrm>
          <a:prstGeom prst="rect">
            <a:avLst/>
          </a:prstGeom>
          <a:solidFill>
            <a:srgbClr val="F5F7FA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25500" y="4933950"/>
            <a:ext cx="32956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Neutro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25500" y="5219700"/>
            <a:ext cx="32956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 Medium"/>
              </a:rPr>
              <a:t>#F5F7FA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38250" y="60579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8250" y="6286500"/>
            <a:ext cx="285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80">
                <a:solidFill>
                  <a:srgbClr val="8A8374"/>
                </a:solidFill>
                <a:latin typeface="Montserrat SemiBold"/>
              </a:rPr>
              <a:t>FUNCIONAIS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8250" y="6648450"/>
            <a:ext cx="609600" cy="609600"/>
          </a:xfrm>
          <a:prstGeom prst="rect">
            <a:avLst/>
          </a:prstGeom>
          <a:solidFill>
            <a:srgbClr val="25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38350" y="6667500"/>
            <a:ext cx="4216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11E18"/>
                </a:solidFill>
                <a:latin typeface="Montserrat SemiBold"/>
              </a:rPr>
              <a:t>Tinta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8350" y="6953250"/>
            <a:ext cx="4216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#252525 · texto corrido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35750" y="6648450"/>
            <a:ext cx="609600" cy="609600"/>
          </a:xfrm>
          <a:prstGeom prst="rect">
            <a:avLst/>
          </a:prstGeom>
          <a:solidFill>
            <a:srgbClr val="034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35850" y="6667500"/>
            <a:ext cx="4216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11E18"/>
                </a:solidFill>
                <a:latin typeface="Montserrat SemiBold"/>
              </a:rPr>
              <a:t>Azul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850" y="6953250"/>
            <a:ext cx="4216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#0345BF · links e estados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33250" y="6648450"/>
            <a:ext cx="609600" cy="609600"/>
          </a:xfrm>
          <a:prstGeom prst="rect">
            <a:avLst/>
          </a:prstGeom>
          <a:solidFill>
            <a:srgbClr val="28B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33350" y="6667500"/>
            <a:ext cx="4216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11E18"/>
                </a:solidFill>
                <a:latin typeface="Montserrat SemiBold"/>
              </a:rPr>
              <a:t>Positivo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33350" y="6953250"/>
            <a:ext cx="42164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#28BD73 · confirmação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8250" y="7620000"/>
            <a:ext cx="15811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O azul é reservado a links e estados interativos: nunca compete com o dourado no mesmo elemento nem assume papel de acento visual.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03 — Cor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Proporção de uso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A escassez do dourado é o que o torna forte. Esta é a proporção-alvo em qualquer peça da marca.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9486900" cy="85725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25150" y="3143250"/>
            <a:ext cx="5534025" cy="8572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259175" y="3143250"/>
            <a:ext cx="790575" cy="8572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04950" y="3429000"/>
            <a:ext cx="8953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60% superfícies claras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850" y="3429000"/>
            <a:ext cx="5000625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ontserrat SemiBold"/>
              </a:rPr>
              <a:t>35% navy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21075" y="413385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8712"/>
                </a:solidFill>
                <a:latin typeface="Montserrat SemiBold"/>
              </a:rPr>
              <a:t>5% dourado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8250" y="4667250"/>
            <a:ext cx="771525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81150" y="4914900"/>
            <a:ext cx="70294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40">
                <a:solidFill>
                  <a:srgbClr val="28BD73"/>
                </a:solidFill>
                <a:latin typeface="Montserrat SemiBold"/>
              </a:rPr>
              <a:t>CORRETO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81150" y="5372100"/>
            <a:ext cx="114300" cy="0"/>
          </a:xfrm>
          <a:prstGeom prst="line">
            <a:avLst/>
          </a:prstGeom>
          <a:ln w="25400">
            <a:solidFill>
              <a:srgbClr val="28BD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09750" y="5295900"/>
            <a:ext cx="680085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Um único elemento dourado por tela: o CTA, o número do capítulo ou o filete de seção.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81150" y="5943600"/>
            <a:ext cx="114300" cy="0"/>
          </a:xfrm>
          <a:prstGeom prst="line">
            <a:avLst/>
          </a:prstGeom>
          <a:ln w="25400">
            <a:solidFill>
              <a:srgbClr val="28BD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09750" y="5867400"/>
            <a:ext cx="680085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Grandes áreas em navy ou paper; dourado sempre em pequena escala.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81150" y="6515100"/>
            <a:ext cx="114300" cy="0"/>
          </a:xfrm>
          <a:prstGeom prst="line">
            <a:avLst/>
          </a:prstGeom>
          <a:ln w="25400">
            <a:solidFill>
              <a:srgbClr val="28BD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09750" y="6438900"/>
            <a:ext cx="680085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Divisores full-bleed dourados como pausa entre capítulos.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4500" y="4667250"/>
            <a:ext cx="7715250" cy="24765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77400" y="4914900"/>
            <a:ext cx="70294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40">
                <a:solidFill>
                  <a:srgbClr val="B54A3C"/>
                </a:solidFill>
                <a:latin typeface="Montserrat SemiBold"/>
              </a:rPr>
              <a:t>EVITAR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77400" y="5372100"/>
            <a:ext cx="114300" cy="0"/>
          </a:xfrm>
          <a:prstGeom prst="line">
            <a:avLst/>
          </a:prstGeom>
          <a:ln w="25400">
            <a:solidFill>
              <a:srgbClr val="B54A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906000" y="5295900"/>
            <a:ext cx="680085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Vários blocos dourados disputando atenção na mesma página.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77400" y="5943600"/>
            <a:ext cx="114300" cy="0"/>
          </a:xfrm>
          <a:prstGeom prst="line">
            <a:avLst/>
          </a:prstGeom>
          <a:ln w="25400">
            <a:solidFill>
              <a:srgbClr val="B54A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906000" y="5867400"/>
            <a:ext cx="680085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Gradientes de navy para dourado ou brilhos aplicados à marca.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77400" y="6515100"/>
            <a:ext cx="114300" cy="0"/>
          </a:xfrm>
          <a:prstGeom prst="line">
            <a:avLst/>
          </a:prstGeom>
          <a:ln w="25400">
            <a:solidFill>
              <a:srgbClr val="B54A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906000" y="6438900"/>
            <a:ext cx="680085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Dourado em texto corrido, tabelas ou gráficos inteiros.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mbol_gold_wm10.png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1811000" y="381000"/>
            <a:ext cx="8567048" cy="952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382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906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430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954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43300"/>
            <a:ext cx="4762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spc="-200">
                <a:solidFill>
                  <a:srgbClr val="1C1446"/>
                </a:solidFill>
                <a:latin typeface="Montserrat SemiBold"/>
              </a:rP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5334000"/>
            <a:ext cx="219075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5600700"/>
            <a:ext cx="10477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spc="-60">
                <a:solidFill>
                  <a:srgbClr val="FFFFFF"/>
                </a:solidFill>
                <a:latin typeface="Montserrat SemiBold"/>
              </a:rPr>
              <a:t>Tipografia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5341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B96B8"/>
                </a:solidFill>
                <a:latin typeface="Montserrat"/>
              </a:rPr>
              <a:t>Montserrat como família única — pesos, escala, hierarquia e regras de composição.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04 — Tipografia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FFFFFF"/>
                </a:solidFill>
                <a:latin typeface="Montserrat SemiBold"/>
              </a:rPr>
              <a:t>Montserrat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9B96B8"/>
                </a:solidFill>
                <a:latin typeface="Montserrat"/>
              </a:rPr>
              <a:t>Família única, do título ao rodapé. Geométrica e aberta — o mesmo caráter do wordmark da marca.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3143250"/>
            <a:ext cx="2476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0" b="0" spc="-200">
                <a:solidFill>
                  <a:srgbClr val="FFFFFF"/>
                </a:solidFill>
                <a:latin typeface="Montserrat SemiBold"/>
              </a:rPr>
              <a:t>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0" y="3238500"/>
            <a:ext cx="11430000" cy="1428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Montserrat"/>
              </a:rPr>
              <a:t>ABCDEFGHIJKLMNOPQRSTUVWXYZ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Montserrat"/>
              </a:rPr>
              <a:t>abcdefghijklmnopqrstuvwxyz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FFB22B"/>
                </a:solidFill>
                <a:latin typeface="Montserrat"/>
              </a:rPr>
              <a:t>0123456789 R$ % — · ÁÉÍÓÚÃÕÇ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8250" y="5619750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8250" y="5924550"/>
            <a:ext cx="3667125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60">
                <a:solidFill>
                  <a:srgbClr val="9B96B8"/>
                </a:solidFill>
                <a:latin typeface="Montserrat Medium"/>
              </a:rPr>
              <a:t>SemiBold 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6210300"/>
            <a:ext cx="3667125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ontserrat SemiBold"/>
              </a:rPr>
              <a:t>Estrutura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838950"/>
            <a:ext cx="366712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"/>
              </a:rPr>
              <a:t>Peso oficial de todo título, número-destaque e nome de seção.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1125" y="5924550"/>
            <a:ext cx="3667125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60">
                <a:solidFill>
                  <a:srgbClr val="9B96B8"/>
                </a:solidFill>
                <a:latin typeface="Montserrat Medium"/>
              </a:rPr>
              <a:t>Medium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1125" y="6210300"/>
            <a:ext cx="3667125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ontserrat Medium"/>
              </a:rPr>
              <a:t>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1125" y="6838950"/>
            <a:ext cx="366712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"/>
              </a:rPr>
              <a:t>Legendas, rótulos, tabelas e textos de apoio curtos.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5924550"/>
            <a:ext cx="3667125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60">
                <a:solidFill>
                  <a:srgbClr val="9B96B8"/>
                </a:solidFill>
                <a:latin typeface="Montserrat Medium"/>
              </a:rPr>
              <a:t>Regular 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6210300"/>
            <a:ext cx="3667125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ontserrat"/>
              </a:rPr>
              <a:t>Estrutura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6838950"/>
            <a:ext cx="366712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"/>
              </a:rPr>
              <a:t>Texto corrido, parágrafos longos e leitura contínua.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96875" y="5924550"/>
            <a:ext cx="3667125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60">
                <a:solidFill>
                  <a:srgbClr val="9B96B8"/>
                </a:solidFill>
                <a:latin typeface="Montserrat Medium"/>
              </a:rPr>
              <a:t>Light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96875" y="6210300"/>
            <a:ext cx="3667125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Montserrat Light"/>
              </a:rPr>
              <a:t>Estrutura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96875" y="6838950"/>
            <a:ext cx="3667125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"/>
              </a:rPr>
              <a:t>Não usar. Perde peso institucional em corpo pequeno.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8210550"/>
            <a:ext cx="158115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B96B8"/>
                </a:solidFill>
                <a:latin typeface="Montserrat Medium"/>
              </a:rPr>
              <a:t>Montserrat é gratuita (Google Fonts / SIL Open Font License). Fallback de sistema: Segoe UI, Tahoma, sans-serif.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04 — Tipografia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Escala e composição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Escala fixa para apresentações 1920×1080. Seis regras garantem consistência entre quem escreve e quem desenha.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8250" y="3009900"/>
            <a:ext cx="8572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8250" y="32194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 Medium"/>
              </a:rPr>
              <a:t>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0" y="321945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120–170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0" y="32194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LH 0,92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8250" y="3543300"/>
            <a:ext cx="8572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8250" y="37528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 Medium"/>
              </a:rPr>
              <a:t>Título de página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0" y="375285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46 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0" y="37528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LH 1,02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8250" y="4076700"/>
            <a:ext cx="8572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38250" y="42862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 Medium"/>
              </a:rPr>
              <a:t>Subtítulo / destaque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0" y="428625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24–30 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0" y="42862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LH 1,3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38250" y="4610100"/>
            <a:ext cx="8572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38250" y="48196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 Medium"/>
              </a:rPr>
              <a:t>Texto corrido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0" y="481965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14–17 px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0" y="48196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LH 1,5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38250" y="5143500"/>
            <a:ext cx="8572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38250" y="53530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 Medium"/>
              </a:rPr>
              <a:t>Legenda e rótulo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5750" y="5353050"/>
            <a:ext cx="95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11–13 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0" y="5353050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LH 1,4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38250" y="5676900"/>
            <a:ext cx="8572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382250" y="30099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60">
                <a:solidFill>
                  <a:srgbClr val="8A8374"/>
                </a:solidFill>
                <a:latin typeface="Montserrat SemiBold"/>
              </a:rPr>
              <a:t>SEIS REGRAS DE COMPOSIÇÃO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0" y="3352800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88712"/>
                </a:solidFill>
                <a:latin typeface="Montserrat SemiBold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0" y="3352800"/>
            <a:ext cx="6286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Títulos em SemiBold com tracking negativo. Nunca Bold em display.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0" y="3943350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88712"/>
                </a:solidFill>
                <a:latin typeface="Montserrat SemiBold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63250" y="3943350"/>
            <a:ext cx="6286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Caixa-alta só em eyebrow e rótulo, sempre com tracking largo.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250" y="4533900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88712"/>
                </a:solidFill>
                <a:latin typeface="Montserrat SemiBold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63250" y="4533900"/>
            <a:ext cx="6286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Alinhamento à esquerda. Texto centralizado em bloco longo é vetado.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2250" y="5124450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88712"/>
                </a:solidFill>
                <a:latin typeface="Montserrat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63250" y="5124450"/>
            <a:ext cx="6286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Máximo de 68 caracteres por linha em texto corrido.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2250" y="5715000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88712"/>
                </a:solidFill>
                <a:latin typeface="Montserrat SemiBold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63250" y="5715000"/>
            <a:ext cx="6286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Sem itálico, sublinhado ou sombra. Ênfase se faz por peso ou cor.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2250" y="6305550"/>
            <a:ext cx="3238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88712"/>
                </a:solidFill>
                <a:latin typeface="Montserrat SemiBold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63250" y="6305550"/>
            <a:ext cx="6286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Corpo mínimo de 14 px em apresentação e 10 pt em impresso.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mbol_gold_wm10.png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1811000" y="381000"/>
            <a:ext cx="8567048" cy="952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382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906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430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954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43300"/>
            <a:ext cx="4762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spc="-200">
                <a:solidFill>
                  <a:srgbClr val="1C1446"/>
                </a:solidFill>
                <a:latin typeface="Montserrat SemiBold"/>
              </a:rPr>
              <a:t>05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5334000"/>
            <a:ext cx="219075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5600700"/>
            <a:ext cx="10477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spc="-60">
                <a:solidFill>
                  <a:srgbClr val="FFFFFF"/>
                </a:solidFill>
                <a:latin typeface="Montserrat SemiBold"/>
              </a:rPr>
              <a:t>Sistema Gráfico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5341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B96B8"/>
                </a:solidFill>
                <a:latin typeface="Montserrat"/>
              </a:rPr>
              <a:t>Grid, elemento gráfico proprietário, critério de fotografia e iconografia.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05 — Sistema Gráfico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Grid e diagonal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O grid organiza o conteúdo; a diagonal — extraída do próprio monograma — é o único elemento gráfico livre da marca.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314325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60">
                <a:solidFill>
                  <a:srgbClr val="C88712"/>
                </a:solidFill>
                <a:latin typeface="Montserrat SemiBold"/>
              </a:rPr>
              <a:t>GRID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8250" y="38100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242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0" y="35242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SemiBold"/>
              </a:rPr>
              <a:t>1920 × 1080 px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8250" y="42291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8250" y="39433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Margem lateral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0" y="39433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SemiBold"/>
              </a:rPr>
              <a:t>130 px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8250" y="46482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43624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Colunas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0" y="43624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SemiBold"/>
              </a:rPr>
              <a:t>12 × goteira 32 px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38250" y="50673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8250" y="47815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Módulo vertical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250" y="4781550"/>
            <a:ext cx="381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SemiBold"/>
              </a:rPr>
              <a:t>8 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5334000"/>
            <a:ext cx="76200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Blocos ocupam colunas inteiras. Nenhum elemento é posicionado “no olho” — se não cabe no grid, o conteúdo é reduzido.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0" y="3143250"/>
            <a:ext cx="7620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60">
                <a:solidFill>
                  <a:srgbClr val="C88712"/>
                </a:solidFill>
                <a:latin typeface="Montserrat SemiBold"/>
              </a:rPr>
              <a:t>A DIAGONAL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9750" y="3524250"/>
            <a:ext cx="76200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8374"/>
                </a:solidFill>
                <a:latin typeface="Montserrat"/>
              </a:rPr>
              <a:t>Ângulo fixo de −24°, herdado do traço que atravessa o símbolo. Nunca aparece curvada, tracejada ou em gradiente.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29750" y="4572000"/>
            <a:ext cx="7620000" cy="19050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11499445" y="5292048"/>
            <a:ext cx="2262395" cy="1007283"/>
          </a:xfrm>
          <a:prstGeom prst="line">
            <a:avLst/>
          </a:prstGeom>
          <a:ln w="17780">
            <a:solidFill>
              <a:srgbClr val="2A20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934522" y="5098341"/>
            <a:ext cx="2262395" cy="1007283"/>
          </a:xfrm>
          <a:prstGeom prst="line">
            <a:avLst/>
          </a:prstGeom>
          <a:ln w="17780">
            <a:solidFill>
              <a:srgbClr val="2A20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369598" y="4904634"/>
            <a:ext cx="2262396" cy="1007284"/>
          </a:xfrm>
          <a:prstGeom prst="line">
            <a:avLst/>
          </a:prstGeom>
          <a:ln w="17780">
            <a:solidFill>
              <a:srgbClr val="2A20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804675" y="4710928"/>
            <a:ext cx="2262395" cy="1007283"/>
          </a:xfrm>
          <a:prstGeom prst="line">
            <a:avLst/>
          </a:prstGeom>
          <a:ln w="17780">
            <a:solidFill>
              <a:srgbClr val="2A20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symbol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0057" y="4857750"/>
            <a:ext cx="1199387" cy="1333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29750" y="66675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8374"/>
                </a:solidFill>
                <a:latin typeface="Montserrat"/>
              </a:rPr>
              <a:t>Repetição em opacidade decrescente, sempre atrás do conteúdo.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05 — Sistema Gráfico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Fotografia e ícones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Fotografamos a economia real — o que existe por trás do crédito. Ícones existem para orientar, não para enfeitar.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7620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50" y="3390900"/>
            <a:ext cx="701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28BD73"/>
                </a:solidFill>
                <a:latin typeface="Montserrat SemiBold"/>
              </a:rPr>
              <a:t>FOTOGRAFAMOS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43050" y="3829050"/>
            <a:ext cx="114300" cy="0"/>
          </a:xfrm>
          <a:prstGeom prst="line">
            <a:avLst/>
          </a:prstGeom>
          <a:ln w="25400">
            <a:solidFill>
              <a:srgbClr val="28BD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771650" y="3752850"/>
            <a:ext cx="666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Operação e ativo real: galpão, frota, linha de produção.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43050" y="4381500"/>
            <a:ext cx="114300" cy="0"/>
          </a:xfrm>
          <a:prstGeom prst="line">
            <a:avLst/>
          </a:prstGeom>
          <a:ln w="25400">
            <a:solidFill>
              <a:srgbClr val="28BD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71650" y="4305300"/>
            <a:ext cx="666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Pessoas em contexto de trabalho, sem pose para a câmera.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43050" y="4933950"/>
            <a:ext cx="114300" cy="0"/>
          </a:xfrm>
          <a:prstGeom prst="line">
            <a:avLst/>
          </a:prstGeom>
          <a:ln w="25400">
            <a:solidFill>
              <a:srgbClr val="28BD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71650" y="4857750"/>
            <a:ext cx="666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Luz natural, contraste firme, paleta que aceite navy por cima.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43050" y="5486400"/>
            <a:ext cx="70104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43050" y="5619750"/>
            <a:ext cx="701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B54A3C"/>
                </a:solidFill>
                <a:latin typeface="Montserrat SemiBold"/>
              </a:rPr>
              <a:t>NUNCA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43050" y="6057900"/>
            <a:ext cx="114300" cy="0"/>
          </a:xfrm>
          <a:prstGeom prst="line">
            <a:avLst/>
          </a:prstGeom>
          <a:ln w="25400">
            <a:solidFill>
              <a:srgbClr val="B54A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771650" y="5981700"/>
            <a:ext cx="666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Gráfico de vela, aperto de mão, painel holográfico.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43050" y="6610350"/>
            <a:ext cx="114300" cy="0"/>
          </a:xfrm>
          <a:prstGeom prst="line">
            <a:avLst/>
          </a:prstGeom>
          <a:ln w="25400">
            <a:solidFill>
              <a:srgbClr val="B54A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71650" y="6534150"/>
            <a:ext cx="66675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Filtro saturado, vinheta forte ou imagem tingida de dourado.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29750" y="3143250"/>
            <a:ext cx="7620000" cy="34290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34550" y="3390900"/>
            <a:ext cx="70104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FFB22B"/>
                </a:solidFill>
                <a:latin typeface="Montserrat SemiBold"/>
              </a:rPr>
              <a:t>ÍCONES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4550" y="3714750"/>
            <a:ext cx="7010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6B8"/>
                </a:solidFill>
                <a:latin typeface="Montserrat"/>
              </a:rPr>
              <a:t>Traço de 2 px, cantos retos, grade de 24 px e nenhum preenchimento.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4550" y="4476750"/>
            <a:ext cx="609600" cy="609600"/>
          </a:xfrm>
          <a:prstGeom prst="rect">
            <a:avLst/>
          </a:prstGeom>
          <a:noFill/>
          <a:ln w="20320">
            <a:solidFill>
              <a:srgbClr val="FFB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610850" y="4476750"/>
            <a:ext cx="609600" cy="609600"/>
          </a:xfrm>
          <a:prstGeom prst="rect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87150" y="4476750"/>
            <a:ext cx="609600" cy="609600"/>
          </a:xfrm>
          <a:prstGeom prst="rect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363450" y="4476750"/>
            <a:ext cx="609600" cy="609600"/>
          </a:xfrm>
          <a:prstGeom prst="rect">
            <a:avLst/>
          </a:prstGeom>
          <a:noFill/>
          <a:ln w="203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39300" y="5200650"/>
            <a:ext cx="8001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B96B8"/>
                </a:solidFill>
                <a:latin typeface="Montserrat"/>
              </a:rPr>
              <a:t>Empresa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5200650"/>
            <a:ext cx="8001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B96B8"/>
                </a:solidFill>
                <a:latin typeface="Montserrat"/>
              </a:rPr>
              <a:t>Carteira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91900" y="5200650"/>
            <a:ext cx="8001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B96B8"/>
                </a:solidFill>
                <a:latin typeface="Montserrat"/>
              </a:rPr>
              <a:t>Garantia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68200" y="5200650"/>
            <a:ext cx="8001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B96B8"/>
                </a:solidFill>
                <a:latin typeface="Montserrat"/>
              </a:rPr>
              <a:t>Funding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4550" y="5695950"/>
            <a:ext cx="70104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B96B8"/>
                </a:solidFill>
                <a:latin typeface="Montserrat"/>
              </a:rPr>
              <a:t>Sempre em navy sobre claro ou branco sobre navy. Dourado apenas quando o ícone é o único destaque da tela.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mbol_gold_wm10.png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1811000" y="381000"/>
            <a:ext cx="8567048" cy="952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382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906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430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954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43300"/>
            <a:ext cx="4762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spc="-200">
                <a:solidFill>
                  <a:srgbClr val="1C1446"/>
                </a:solidFill>
                <a:latin typeface="Montserrat SemiBold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5334000"/>
            <a:ext cx="219075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5600700"/>
            <a:ext cx="10477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spc="-60">
                <a:solidFill>
                  <a:srgbClr val="FFFFFF"/>
                </a:solidFill>
                <a:latin typeface="Montserrat SemiBold"/>
              </a:rPr>
              <a:t>Tom de Voz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5341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B96B8"/>
                </a:solidFill>
                <a:latin typeface="Montserrat"/>
              </a:rPr>
              <a:t>Princípios de escrita, vocabulário permitido e calibragem por canal.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06 — Tom de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Como escrevemos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Institucional, específico e sem adjetivo vazio. Escrevemos para quem decide — CFO, diretor financeiro, alocador.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31432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60">
                <a:solidFill>
                  <a:srgbClr val="28BD73"/>
                </a:solidFill>
                <a:latin typeface="Montserrat SemiBold"/>
              </a:rPr>
              <a:t>ASSIM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8250" y="38862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242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“Originamos, estruturamos e gerimos operações de crédito desenvolvidas a partir das necessidades de empresas e investidores.”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48006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44386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“Cada operação é analisada individualmente, considerando recebíveis, garantias e capacidade de pagamento.”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8250" y="57150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38250" y="53530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“Entender o negócio antes de estruturar o capital.”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8250" y="66294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62674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11E18"/>
                </a:solidFill>
                <a:latin typeface="Montserrat"/>
              </a:rPr>
              <a:t>“Patrimônio sob gestão de R$ 850 milhões, base julho de 2026.”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0" y="314325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160">
                <a:solidFill>
                  <a:srgbClr val="B54A3C"/>
                </a:solidFill>
                <a:latin typeface="Montserrat SemiBold"/>
              </a:rPr>
              <a:t>NÃO ASSIM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29750" y="38862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429750" y="35242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"/>
              </a:rPr>
              <a:t>“Seu negócio não pode esperar o banco decidir.”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29750" y="48006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429750" y="44386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"/>
              </a:rPr>
              <a:t>“Fôlego agora, sem a burocracia de um banco.”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29750" y="57150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29750" y="53530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"/>
              </a:rPr>
              <a:t>“Alavancamos sinergias operacionais para otimizar seu funding corporativo.”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9750" y="6629400"/>
            <a:ext cx="76200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29750" y="6267450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8374"/>
                </a:solidFill>
                <a:latin typeface="Montserrat"/>
              </a:rPr>
              <a:t>“A melhor solução de crédito do mercado, com as menores taxas.”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8250" y="8210550"/>
            <a:ext cx="15811500" cy="6667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62100" y="8420100"/>
            <a:ext cx="15163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B22B"/>
                </a:solidFill>
                <a:latin typeface="Montserrat"/>
              </a:rPr>
              <a:t>Sem superlativo, sem urgência fabricada, sem promessa de taxa ou retorno. Toda peça regulatória passa por compliance antes de publicar.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06 — Tom de Voz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Voz por canal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A voz é a mesma; o registro muda. O eixo é sempre institucional — a variação é de profundidade, não de personalidade.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8250" y="356235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8250" y="329565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40">
                <a:solidFill>
                  <a:srgbClr val="8A8374"/>
                </a:solidFill>
                <a:latin typeface="Montserrat SemiBold"/>
              </a:rPr>
              <a:t>CANAL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0" y="329565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40">
                <a:solidFill>
                  <a:srgbClr val="8A8374"/>
                </a:solidFill>
                <a:latin typeface="Montserrat SemiBold"/>
              </a:rPr>
              <a:t>REGISTRO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0" y="3295650"/>
            <a:ext cx="838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140">
                <a:solidFill>
                  <a:srgbClr val="8A8374"/>
                </a:solidFill>
                <a:latin typeface="Montserrat SemiBold"/>
              </a:rPr>
              <a:t>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3695700"/>
            <a:ext cx="34290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Site institucional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0" y="3695700"/>
            <a:ext cx="3619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Afirmativo e curto.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0" y="3695700"/>
            <a:ext cx="8382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"/>
              </a:rPr>
              <a:t>“Crédito estruturado para a economia real.”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8250" y="43815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4572000"/>
            <a:ext cx="34290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Material para empresas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7750" y="4572000"/>
            <a:ext cx="3619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Consultivo, parte do problema do negócio.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0" y="4572000"/>
            <a:ext cx="8382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"/>
              </a:rPr>
              <a:t>“A estrutura certa começa pelo problema certo.”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8250" y="52578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38250" y="5448300"/>
            <a:ext cx="34290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Relações com investidores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0" y="5448300"/>
            <a:ext cx="3619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Técnico e sóbrio, sem projeção de retorno.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0" y="5448300"/>
            <a:ext cx="8382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"/>
              </a:rPr>
              <a:t>“Estratégias construídas com disciplina de crédito.”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38250" y="61341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38250" y="6324600"/>
            <a:ext cx="34290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7750" y="6324600"/>
            <a:ext cx="3619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Explicativo. Uma ideia por post.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0" y="6324600"/>
            <a:ext cx="8382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"/>
              </a:rPr>
              <a:t>“O que um FIDC resolve que uma linha bancária não resolve.”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38250" y="70104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38250" y="7200900"/>
            <a:ext cx="34290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E-mail e proposta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7750" y="7200900"/>
            <a:ext cx="36195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374"/>
                </a:solidFill>
                <a:latin typeface="Montserrat"/>
              </a:rPr>
              <a:t>Direto e nominal.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7750" y="7200900"/>
            <a:ext cx="83820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"/>
              </a:rPr>
              <a:t>“Estrutura proposta para antecipação de recebíveis — [empresa].”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38250" y="7886700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mbol_gold_wm10.png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1811000" y="381000"/>
            <a:ext cx="8567048" cy="952500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 flipH="1">
            <a:off x="8382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906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1430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2954000" y="-571500"/>
            <a:ext cx="3619500" cy="11430000"/>
          </a:xfrm>
          <a:prstGeom prst="line">
            <a:avLst/>
          </a:prstGeom>
          <a:ln w="12700">
            <a:solidFill>
              <a:srgbClr val="160E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8250" y="3543300"/>
            <a:ext cx="4762500" cy="209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0" spc="-200">
                <a:solidFill>
                  <a:srgbClr val="1C1446"/>
                </a:solidFill>
                <a:latin typeface="Montserrat SemiBold"/>
              </a:rP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8250" y="5334000"/>
            <a:ext cx="2190750" cy="0"/>
          </a:xfrm>
          <a:prstGeom prst="line">
            <a:avLst/>
          </a:prstGeom>
          <a:ln w="3048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8250" y="5600700"/>
            <a:ext cx="10477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0" spc="-60">
                <a:solidFill>
                  <a:srgbClr val="FFFFFF"/>
                </a:solidFill>
                <a:latin typeface="Montserrat SemiBold"/>
              </a:rPr>
              <a:t>Aplicações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6534150"/>
            <a:ext cx="857250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B96B8"/>
                </a:solidFill>
                <a:latin typeface="Montserrat"/>
              </a:rPr>
              <a:t>Papelaria, assinatura de e-mail, site, apresentações, redes sociais e checklist de aprovação.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07 — 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Papelaria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Cartão frente navy, verso claro. Papel 300 g com textura fosca — nenhum verniz brilhante.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30099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8A8374"/>
                </a:solidFill>
                <a:latin typeface="Montserrat SemiBold"/>
              </a:rPr>
              <a:t>CARTÃO DE VISITA · 90 × 50 MM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8250" y="3352800"/>
            <a:ext cx="3771900" cy="20955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ert_gol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519" y="3733800"/>
            <a:ext cx="1287362" cy="133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38750" y="3352800"/>
            <a:ext cx="3771900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38750" y="3352800"/>
            <a:ext cx="3771900" cy="3810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62600" y="3638550"/>
            <a:ext cx="31242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11E18"/>
                </a:solidFill>
                <a:latin typeface="Montserrat SemiBold"/>
              </a:rPr>
              <a:t>Leonardo Ciasca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2600" y="3905250"/>
            <a:ext cx="31242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spc="120">
                <a:solidFill>
                  <a:srgbClr val="C88712"/>
                </a:solidFill>
                <a:latin typeface="Montserrat SemiBold"/>
              </a:rPr>
              <a:t>FOUNDER &amp; MANAGING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2600" y="4305300"/>
            <a:ext cx="3124200" cy="952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11E18"/>
                </a:solidFill>
                <a:latin typeface="Montserrat"/>
              </a:rPr>
              <a:t>leonardo@solarcapital.com.br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211E18"/>
                </a:solidFill>
                <a:latin typeface="Montserrat"/>
              </a:rPr>
              <a:t>+55 11 3856-1545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Rua Dr. Eduardo de Souza Aranha, 153 · 6º andar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São Paulo ·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5734050"/>
            <a:ext cx="7772400" cy="476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Nome em SemiBold, cargo em caixa-alta dourada com tracking largo, contato em Regular. Sem telefone celular pessoal impresso.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0" y="3009900"/>
            <a:ext cx="7429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8A8374"/>
                </a:solidFill>
                <a:latin typeface="Montserrat SemiBold"/>
              </a:rPr>
              <a:t>TIMBRADO A4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20250" y="3352800"/>
            <a:ext cx="7429500" cy="476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oriz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646" y="3695700"/>
            <a:ext cx="1766207" cy="4191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001250" y="4381500"/>
            <a:ext cx="6667500" cy="95250"/>
          </a:xfrm>
          <a:prstGeom prst="rect">
            <a:avLst/>
          </a:prstGeom>
          <a:solidFill>
            <a:srgbClr val="EA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001250" y="4629150"/>
            <a:ext cx="6667500" cy="95250"/>
          </a:xfrm>
          <a:prstGeom prst="rect">
            <a:avLst/>
          </a:prstGeom>
          <a:solidFill>
            <a:srgbClr val="EA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01250" y="4876800"/>
            <a:ext cx="6096000" cy="95250"/>
          </a:xfrm>
          <a:prstGeom prst="rect">
            <a:avLst/>
          </a:prstGeom>
          <a:solidFill>
            <a:srgbClr val="EA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01250" y="5410200"/>
            <a:ext cx="6667500" cy="95250"/>
          </a:xfrm>
          <a:prstGeom prst="rect">
            <a:avLst/>
          </a:prstGeom>
          <a:solidFill>
            <a:srgbClr val="EA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01250" y="5657850"/>
            <a:ext cx="6667500" cy="95250"/>
          </a:xfrm>
          <a:prstGeom prst="rect">
            <a:avLst/>
          </a:prstGeom>
          <a:solidFill>
            <a:srgbClr val="EA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001250" y="5905500"/>
            <a:ext cx="6667500" cy="95250"/>
          </a:xfrm>
          <a:prstGeom prst="rect">
            <a:avLst/>
          </a:prstGeom>
          <a:solidFill>
            <a:srgbClr val="EA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001250" y="6153150"/>
            <a:ext cx="5905500" cy="95250"/>
          </a:xfrm>
          <a:prstGeom prst="rect">
            <a:avLst/>
          </a:prstGeom>
          <a:solidFill>
            <a:srgbClr val="EA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01250" y="7677150"/>
            <a:ext cx="6667500" cy="190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01250" y="7791450"/>
            <a:ext cx="666750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00">
                <a:solidFill>
                  <a:srgbClr val="8A8374"/>
                </a:solidFill>
                <a:latin typeface="Montserrat Medium"/>
              </a:rPr>
              <a:t>SOLAR CAPITAL · SÃO PAULO · SP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07 — 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Assinatura de e-mail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Lockup horizontal em caixa navy quadrada, com texto de contato compacto ao lado — já publicada e em uso.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15811500" cy="533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38250" y="3143250"/>
            <a:ext cx="15811500" cy="43815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24000" y="3295650"/>
            <a:ext cx="133350" cy="133350"/>
          </a:xfrm>
          <a:prstGeom prst="ellipse">
            <a:avLst/>
          </a:prstGeom>
          <a:solidFill>
            <a:srgbClr val="E08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733550" y="3295650"/>
            <a:ext cx="133350" cy="133350"/>
          </a:xfrm>
          <a:prstGeom prst="ellipse">
            <a:avLst/>
          </a:prstGeom>
          <a:solidFill>
            <a:srgbClr val="E0C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43100" y="3295650"/>
            <a:ext cx="133350" cy="133350"/>
          </a:xfrm>
          <a:prstGeom prst="ellipse">
            <a:avLst/>
          </a:prstGeom>
          <a:solidFill>
            <a:srgbClr val="7CB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81250" y="325755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 Medium"/>
              </a:rPr>
              <a:t>Novo e-mail — Leonardo Ciasca</a:t>
            </a:r>
          </a:p>
        </p:txBody>
      </p:sp>
      <p:pic>
        <p:nvPicPr>
          <p:cNvPr id="11" name="Picture 10" descr="sig_fina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721" y="4191000"/>
            <a:ext cx="10632558" cy="3429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07 — 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Site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Hero navy com CTA dourado único; cartões de fundo com patrimônio líquido e data-base sempre visíveis.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771525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38250" y="3143250"/>
            <a:ext cx="7715250" cy="38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09700" y="3286125"/>
            <a:ext cx="95250" cy="95250"/>
          </a:xfrm>
          <a:prstGeom prst="ellipse">
            <a:avLst/>
          </a:prstGeom>
          <a:solidFill>
            <a:srgbClr val="E08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1150" y="3286125"/>
            <a:ext cx="95250" cy="95250"/>
          </a:xfrm>
          <a:prstGeom prst="ellipse">
            <a:avLst/>
          </a:prstGeom>
          <a:solidFill>
            <a:srgbClr val="E0C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52600" y="3286125"/>
            <a:ext cx="95250" cy="95250"/>
          </a:xfrm>
          <a:prstGeom prst="ellipse">
            <a:avLst/>
          </a:prstGeom>
          <a:solidFill>
            <a:srgbClr val="7CB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95500" y="3228975"/>
            <a:ext cx="66675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0750" y="3248025"/>
            <a:ext cx="6477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8374"/>
                </a:solidFill>
                <a:latin typeface="Montserrat Medium"/>
              </a:rPr>
              <a:t>solarcapital.com.br</a:t>
            </a:r>
          </a:p>
        </p:txBody>
      </p:sp>
      <p:pic>
        <p:nvPicPr>
          <p:cNvPr id="12" name="Picture 11" descr="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3524250"/>
            <a:ext cx="5181600" cy="32385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334500" y="3143250"/>
            <a:ext cx="771525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34500" y="3143250"/>
            <a:ext cx="7715250" cy="38100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505950" y="3286125"/>
            <a:ext cx="95250" cy="95250"/>
          </a:xfrm>
          <a:prstGeom prst="ellipse">
            <a:avLst/>
          </a:prstGeom>
          <a:solidFill>
            <a:srgbClr val="E086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77400" y="3286125"/>
            <a:ext cx="95250" cy="95250"/>
          </a:xfrm>
          <a:prstGeom prst="ellipse">
            <a:avLst/>
          </a:prstGeom>
          <a:solidFill>
            <a:srgbClr val="E0C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48850" y="3286125"/>
            <a:ext cx="95250" cy="95250"/>
          </a:xfrm>
          <a:prstGeom prst="ellipse">
            <a:avLst/>
          </a:prstGeom>
          <a:solidFill>
            <a:srgbClr val="7CB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91750" y="3228975"/>
            <a:ext cx="666750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87000" y="3248025"/>
            <a:ext cx="64770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8374"/>
                </a:solidFill>
                <a:latin typeface="Montserrat Medium"/>
              </a:rPr>
              <a:t>solarcapital.com.br/fundos</a:t>
            </a:r>
          </a:p>
        </p:txBody>
      </p:sp>
      <p:pic>
        <p:nvPicPr>
          <p:cNvPr id="20" name="Picture 19" descr="fun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325" y="3524250"/>
            <a:ext cx="5181600" cy="3238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8250" y="6915150"/>
            <a:ext cx="7715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Home — hero institucional com estatísticas e data-base.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4500" y="6915150"/>
            <a:ext cx="7715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Fundos — cartões com PL e data-base por FIDC.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07 — 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Apresentações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Quatro modelos cobrem qualquer deck da casa — este próprio manual segue o sistema.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8250" y="3143250"/>
            <a:ext cx="3781425" cy="20955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horiz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129" y="3314700"/>
            <a:ext cx="1043668" cy="24765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1409700" y="3810000"/>
            <a:ext cx="304800" cy="0"/>
          </a:xfrm>
          <a:prstGeom prst="line">
            <a:avLst/>
          </a:prstGeom>
          <a:ln w="2032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09700" y="3924300"/>
            <a:ext cx="34385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Montserrat SemiBold"/>
              </a:rPr>
              <a:t>Título
da capa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5391150"/>
            <a:ext cx="37814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 SemiBold"/>
              </a:rPr>
              <a:t>01 · Capa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5657850"/>
            <a:ext cx="37814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Navy integral, marca no topo, filete dourado.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48275" y="3143250"/>
            <a:ext cx="3781425" cy="20955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19725" y="3524250"/>
            <a:ext cx="34385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2A2055"/>
                </a:solidFill>
                <a:latin typeface="Montserrat SemiBold"/>
              </a:rPr>
              <a:t>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19725" y="4171950"/>
            <a:ext cx="304800" cy="0"/>
          </a:xfrm>
          <a:prstGeom prst="line">
            <a:avLst/>
          </a:prstGeom>
          <a:ln w="2032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19725" y="4286250"/>
            <a:ext cx="343852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Montserrat SemiBold"/>
              </a:rPr>
              <a:t>Nome da seção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275" y="5391150"/>
            <a:ext cx="37814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 SemiBold"/>
              </a:rPr>
              <a:t>02 · Divisor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5657850"/>
            <a:ext cx="37814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Navy com número grande — pausa entre capítulos.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58300" y="3143250"/>
            <a:ext cx="3781425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29750" y="3314700"/>
            <a:ext cx="3438525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20">
                <a:solidFill>
                  <a:srgbClr val="C88712"/>
                </a:solidFill>
                <a:latin typeface="Montserrat SemiBold"/>
              </a:rPr>
              <a:t>EYEBROW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0" y="3505200"/>
            <a:ext cx="343852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11E18"/>
                </a:solidFill>
                <a:latin typeface="Montserrat SemiBold"/>
              </a:rPr>
              <a:t>Título do conteúdo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29750" y="4000500"/>
            <a:ext cx="1633538" cy="85725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234738" y="4000500"/>
            <a:ext cx="1633538" cy="85725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58300" y="5391150"/>
            <a:ext cx="37814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 SemiBold"/>
              </a:rPr>
              <a:t>03 · Conteúdo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5657850"/>
            <a:ext cx="37814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Eyebrow, título e blocos sobre paper.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268325" y="3143250"/>
            <a:ext cx="3781425" cy="2095500"/>
          </a:xfrm>
          <a:prstGeom prst="rect">
            <a:avLst/>
          </a:prstGeom>
          <a:solidFill>
            <a:srgbClr val="120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439775" y="3314700"/>
            <a:ext cx="3438525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spc="120">
                <a:solidFill>
                  <a:srgbClr val="FFB22B"/>
                </a:solidFill>
                <a:latin typeface="Montserrat SemiBold"/>
              </a:rPr>
              <a:t>INDICADORES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39775" y="3562350"/>
            <a:ext cx="34385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Montserrat SemiBold"/>
              </a:rPr>
              <a:t>R$ 850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39775" y="4095750"/>
            <a:ext cx="343852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96B8"/>
                </a:solidFill>
                <a:latin typeface="Montserrat"/>
              </a:rPr>
              <a:t>PL agregado · base jul/2026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68325" y="5391150"/>
            <a:ext cx="378142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 SemiBold"/>
              </a:rPr>
              <a:t>04 · 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68325" y="5657850"/>
            <a:ext cx="37814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8374"/>
                </a:solidFill>
                <a:latin typeface="Montserrat"/>
              </a:rPr>
              <a:t>Navy 2 com número em destaque e data-base.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8250" y="6667500"/>
            <a:ext cx="15811500" cy="666750"/>
          </a:xfrm>
          <a:prstGeom prst="rect">
            <a:avLst/>
          </a:prstGeom>
          <a:solidFill>
            <a:srgbClr val="F1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62100" y="6877050"/>
            <a:ext cx="151638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11E18"/>
                </a:solidFill>
                <a:latin typeface="Montserrat"/>
              </a:rPr>
              <a:t>Rodapé fixo em todo slide: “Solar Capital — [nome do material]” à esquerda e número da página à direita. Slide sem rodapé só na capa.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07 — 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211E18"/>
                </a:solidFill>
                <a:latin typeface="Montserrat SemiBold"/>
              </a:rPr>
              <a:t>Social e avatares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8A8374"/>
                </a:solidFill>
                <a:latin typeface="Montserrat"/>
              </a:rPr>
              <a:t>Avatar oficial: símbolo dourado centralizado sobre navy. Wordmark só quando o formato permitir leitura.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3009900"/>
            <a:ext cx="381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8A8374"/>
                </a:solidFill>
                <a:latin typeface="Montserrat SemiBold"/>
              </a:rPr>
              <a:t>AVATAR · PERFIL E APP ICON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8250" y="3352800"/>
            <a:ext cx="1428750" cy="142875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ymbol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08" y="3638550"/>
            <a:ext cx="771034" cy="857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8250" y="4933950"/>
            <a:ext cx="18097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SemiBold"/>
              </a:rPr>
              <a:t>Oficial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5181600"/>
            <a:ext cx="1809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374"/>
                </a:solidFill>
                <a:latin typeface="Montserrat"/>
              </a:rPr>
              <a:t>LinkedIn, app, favicon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850" y="3352800"/>
            <a:ext cx="1428750" cy="14287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ymbol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708" y="3638550"/>
            <a:ext cx="771034" cy="857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990850" y="4933950"/>
            <a:ext cx="18097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SemiBold"/>
              </a:rPr>
              <a:t>Alternativo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850" y="5181600"/>
            <a:ext cx="1809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374"/>
                </a:solidFill>
                <a:latin typeface="Montserrat"/>
              </a:rPr>
              <a:t>campanhas pontuais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3450" y="3352800"/>
            <a:ext cx="142875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ymbol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308" y="3638550"/>
            <a:ext cx="771034" cy="857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43450" y="4933950"/>
            <a:ext cx="180975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11E18"/>
                </a:solidFill>
                <a:latin typeface="Montserrat SemiBold"/>
              </a:rPr>
              <a:t>Claro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3450" y="5181600"/>
            <a:ext cx="180975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374"/>
                </a:solidFill>
                <a:latin typeface="Montserrat"/>
              </a:rPr>
              <a:t>assinatura de e-mail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8250" y="5905500"/>
            <a:ext cx="4572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8374"/>
                </a:solidFill>
                <a:latin typeface="Montserrat"/>
              </a:rPr>
              <a:t>O símbolo ocupa 52% da largura do quadro, sempre centralizado. Nunca use o lockup completo em avatar redondo.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0" y="3009900"/>
            <a:ext cx="990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8A8374"/>
                </a:solidFill>
                <a:latin typeface="Montserrat SemiBold"/>
              </a:rPr>
              <a:t>POST INSTITUCIONAL · 1080 × 1080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3750" y="3352800"/>
            <a:ext cx="9906000" cy="4381500"/>
          </a:xfrm>
          <a:prstGeom prst="rect">
            <a:avLst/>
          </a:prstGeom>
          <a:solidFill>
            <a:srgbClr val="070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horiz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102" y="3695700"/>
            <a:ext cx="1364796" cy="323850"/>
          </a:xfrm>
          <a:prstGeom prst="rect">
            <a:avLst/>
          </a:prstGeom>
        </p:spPr>
      </p:pic>
      <p:cxnSp>
        <p:nvCxnSpPr>
          <p:cNvPr id="22" name="Connector 21"/>
          <p:cNvCxnSpPr/>
          <p:nvPr/>
        </p:nvCxnSpPr>
        <p:spPr>
          <a:xfrm>
            <a:off x="7524750" y="4381500"/>
            <a:ext cx="476250" cy="0"/>
          </a:xfrm>
          <a:prstGeom prst="line">
            <a:avLst/>
          </a:prstGeom>
          <a:ln w="2540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24750" y="4572000"/>
            <a:ext cx="914400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ontserrat SemiBold"/>
              </a:rPr>
              <a:t>O que um FIDC resolve que uma linha bancária não resolve.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0" y="7200900"/>
            <a:ext cx="9144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B96B8"/>
                </a:solidFill>
                <a:latin typeface="Montserrat"/>
              </a:rPr>
              <a:t>solarcapital.com.br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DDD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8A8374"/>
                </a:solidFill>
                <a:latin typeface="Montserrat SemiBol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8250" y="742950"/>
            <a:ext cx="857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220">
                <a:solidFill>
                  <a:srgbClr val="FFB22B"/>
                </a:solidFill>
                <a:latin typeface="Montserrat SemiBold"/>
              </a:rPr>
              <a:t>07 — 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8250" y="1066800"/>
            <a:ext cx="11430000" cy="800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spc="-40">
                <a:solidFill>
                  <a:srgbClr val="FFFFFF"/>
                </a:solidFill>
                <a:latin typeface="Montserrat SemiBold"/>
              </a:rPr>
              <a:t>Antes de publicar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8250" y="1962150"/>
            <a:ext cx="93345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9B96B8"/>
                </a:solidFill>
                <a:latin typeface="Montserrat"/>
              </a:rPr>
              <a:t>Oito verificações. Se qualquer resposta for “não”, a peça não sai.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8250" y="31432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31432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A marca está na versão correta para o fundo e com respiro de 1X preservado.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8250" y="3810000"/>
            <a:ext cx="76200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8250" y="39433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39433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Há um único destaque dourado na peça.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8250" y="4610100"/>
            <a:ext cx="76200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38250" y="47434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4500" y="47434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Toda tipografia é Montserrat, com título em SemiBold.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8250" y="5410200"/>
            <a:ext cx="76200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38250" y="55435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55435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Nenhum elemento invade as margens de 130 px do grid.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0" y="31432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0" y="31432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Todo número exibido tem data-base e fonte identificada.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29750" y="3810000"/>
            <a:ext cx="76200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429750" y="39433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39433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O texto não promete taxa, retorno, prazo de aprovação ou vantagem tributária.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9750" y="4610100"/>
            <a:ext cx="76200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29750" y="47434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47434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Material com menção a fundo passou por compliance e jurídico.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9750" y="5410200"/>
            <a:ext cx="76200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429750" y="5543550"/>
            <a:ext cx="381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B22B"/>
                </a:solidFill>
                <a:latin typeface="Montserrat SemiBold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6000" y="55435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ontserrat"/>
              </a:rPr>
              <a:t>Nenhuma imagem usa clichê de mercado financeiro.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8250" y="6534150"/>
            <a:ext cx="15811500" cy="1238250"/>
          </a:xfrm>
          <a:prstGeom prst="rect">
            <a:avLst/>
          </a:prstGeom>
          <a:solidFill>
            <a:srgbClr val="120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38250" y="6534150"/>
            <a:ext cx="38100" cy="1238250"/>
          </a:xfrm>
          <a:prstGeom prst="rect">
            <a:avLst/>
          </a:prstGeom>
          <a:solidFill>
            <a:srgbClr val="FFB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562100" y="672465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40">
                <a:solidFill>
                  <a:srgbClr val="FFB22B"/>
                </a:solidFill>
                <a:latin typeface="Montserrat SemiBold"/>
              </a:rPr>
              <a:t>PENDÊNCIAS DESTA VERSÃO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62100" y="6991350"/>
            <a:ext cx="151638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B96B8"/>
                </a:solidFill>
                <a:latin typeface="Montserrat"/>
              </a:rPr>
              <a:t>Confirmar endereço institucional atual junto ao time (duas referências divergentes em circulação) · validar nome legal definitivo dos 4 FIDCs junto ao administrador para uso fora do site · aprovar disclaimer regulatório com jurídico.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238250" y="9686925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238250" y="9782175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Medium"/>
              </a:rPr>
              <a:t>Solar Capital — Brand Book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144750" y="9782175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120">
                <a:solidFill>
                  <a:srgbClr val="9B96B8"/>
                </a:solidFill>
                <a:latin typeface="Montserrat SemiBol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80010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>
            <a:off x="93345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106680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120015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3335000" y="-381000"/>
            <a:ext cx="3238500" cy="11049000"/>
          </a:xfrm>
          <a:prstGeom prst="line">
            <a:avLst/>
          </a:prstGeom>
          <a:ln w="12700">
            <a:solidFill>
              <a:srgbClr val="181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symbol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265" y="2000250"/>
            <a:ext cx="1593471" cy="177165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048625" y="4381500"/>
            <a:ext cx="2190750" cy="0"/>
          </a:xfrm>
          <a:prstGeom prst="line">
            <a:avLst/>
          </a:prstGeom>
          <a:ln w="20320">
            <a:solidFill>
              <a:srgbClr val="FFB2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81500" y="4629150"/>
            <a:ext cx="95250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ontserrat SemiBold"/>
              </a:rPr>
              <a:t>Crédito estruturado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Montserrat SemiBold"/>
              </a:rPr>
              <a:t>para a economia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5638800"/>
            <a:ext cx="9525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Rua Dr. Eduardo de Souza Aranha, 153 · 6º andar — São Paulo · 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0" y="5924550"/>
            <a:ext cx="9525000" cy="285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9B96B8"/>
                </a:solidFill>
                <a:latin typeface="Montserrat"/>
              </a:rPr>
              <a:t>contato@solarcapital.com.br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38250" y="9601200"/>
            <a:ext cx="15811500" cy="0"/>
          </a:xfrm>
          <a:prstGeom prst="line">
            <a:avLst/>
          </a:prstGeom>
          <a:ln w="12700">
            <a:solidFill>
              <a:srgbClr val="2A22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8250" y="9753600"/>
            <a:ext cx="6667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100">
                <a:solidFill>
                  <a:srgbClr val="9B96B8"/>
                </a:solidFill>
                <a:latin typeface="Montserrat Medium"/>
              </a:rPr>
              <a:t>Brand Book v2.0 · Agosto de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87250" y="9753600"/>
            <a:ext cx="47625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spc="40">
                <a:solidFill>
                  <a:srgbClr val="9B96B8"/>
                </a:solidFill>
                <a:latin typeface="Montserrat Medium"/>
              </a:rPr>
              <a:t>Dúvidas de aplicação: marca@solarcapital.com.br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35906c-2b19-4edb-a9cd-2968972d819c">
      <Terms xmlns="http://schemas.microsoft.com/office/infopath/2007/PartnerControls"/>
    </lcf76f155ced4ddcb4097134ff3c332f>
    <TaxCatchAll xmlns="5a12d974-712b-42cf-ac9f-ed325d2db27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ED58D50DE1834C893F2B2667A51999" ma:contentTypeVersion="11" ma:contentTypeDescription="Crie um novo documento." ma:contentTypeScope="" ma:versionID="2f443012878aec1712e8c37e439e1f3b">
  <xsd:schema xmlns:xsd="http://www.w3.org/2001/XMLSchema" xmlns:xs="http://www.w3.org/2001/XMLSchema" xmlns:p="http://schemas.microsoft.com/office/2006/metadata/properties" xmlns:ns2="d235906c-2b19-4edb-a9cd-2968972d819c" xmlns:ns3="5a12d974-712b-42cf-ac9f-ed325d2db275" targetNamespace="http://schemas.microsoft.com/office/2006/metadata/properties" ma:root="true" ma:fieldsID="614ea2d73340a4f2459ac6fa1bd56008" ns2:_="" ns3:_="">
    <xsd:import namespace="d235906c-2b19-4edb-a9cd-2968972d819c"/>
    <xsd:import namespace="5a12d974-712b-42cf-ac9f-ed325d2db2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35906c-2b19-4edb-a9cd-2968972d81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0ac03ab-8548-4ef7-b0e2-cd6684823f8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12d974-712b-42cf-ac9f-ed325d2db2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061eb28-ad59-4027-a765-3ed6b835ad5b}" ma:internalName="TaxCatchAll" ma:showField="CatchAllData" ma:web="5a12d974-712b-42cf-ac9f-ed325d2db2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10B155-6550-4438-A1D3-EEAABF59CB4E}">
  <ds:schemaRefs>
    <ds:schemaRef ds:uri="http://schemas.microsoft.com/office/2006/metadata/properties"/>
    <ds:schemaRef ds:uri="http://schemas.microsoft.com/office/infopath/2007/PartnerControls"/>
    <ds:schemaRef ds:uri="d235906c-2b19-4edb-a9cd-2968972d819c"/>
    <ds:schemaRef ds:uri="5a12d974-712b-42cf-ac9f-ed325d2db275"/>
  </ds:schemaRefs>
</ds:datastoreItem>
</file>

<file path=customXml/itemProps2.xml><?xml version="1.0" encoding="utf-8"?>
<ds:datastoreItem xmlns:ds="http://schemas.openxmlformats.org/officeDocument/2006/customXml" ds:itemID="{AB1E66A2-042A-452E-AC5A-92EE8CD102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35906c-2b19-4edb-a9cd-2968972d819c"/>
    <ds:schemaRef ds:uri="5a12d974-712b-42cf-ac9f-ed325d2db2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7F385F-A08F-4483-B42B-6F889678DF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3692</Words>
  <Application>Microsoft Office PowerPoint</Application>
  <PresentationFormat>Personalizar</PresentationFormat>
  <Paragraphs>576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6" baseType="lpstr">
      <vt:lpstr>Arial</vt:lpstr>
      <vt:lpstr>Calibri</vt:lpstr>
      <vt:lpstr>Montserrat</vt:lpstr>
      <vt:lpstr>Montserrat Light</vt:lpstr>
      <vt:lpstr>Montserrat Medium</vt:lpstr>
      <vt:lpstr>Montserrat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Heloisa Cabral</cp:lastModifiedBy>
  <cp:revision>1</cp:revision>
  <dcterms:created xsi:type="dcterms:W3CDTF">2013-01-27T09:14:16Z</dcterms:created>
  <dcterms:modified xsi:type="dcterms:W3CDTF">2026-08-28T18:55:28Z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0x010100F4ED58D50DE1834C893F2B2667A51999</vt:lpwstr>
  </property>
</Properties>
</file>