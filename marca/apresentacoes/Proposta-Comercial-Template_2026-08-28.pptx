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customXml" Target="../customXml/item3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bolo-orange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4860000" y="7200000"/>
            <a:ext cx="3960000" cy="4396153"/>
          </a:xfrm>
          <a:prstGeom prst="rect">
            <a:avLst/>
          </a:prstGeom>
          <a:effectLst/>
        </p:spPr>
      </p:pic>
      <p:pic>
        <p:nvPicPr>
          <p:cNvPr id="3" name="Picture 2" descr="logo-horizonta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648000"/>
            <a:ext cx="1800000" cy="423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" y="3060000"/>
            <a:ext cx="59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PROPOSTA COMERCIAL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3294000"/>
            <a:ext cx="503999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3491999"/>
            <a:ext cx="5976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Proposta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5184000"/>
            <a:ext cx="597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Preparada para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5382000"/>
            <a:ext cx="597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[Nome do Cliente]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5922000"/>
            <a:ext cx="59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[Dia] de [mês] de [ano] · Ref.: [Código da proposta]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9576000"/>
            <a:ext cx="5976000" cy="7620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9666000"/>
            <a:ext cx="36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· Documento confidencial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000" y="9666000"/>
            <a:ext cx="21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solarcapital.com.br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468000"/>
            <a:ext cx="1296000" cy="3051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2000" y="899125"/>
            <a:ext cx="5976000" cy="190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169125"/>
            <a:ext cx="59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SOBRE A SOLAR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1403125"/>
            <a:ext cx="597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Crédito estruturado para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a economia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213125"/>
            <a:ext cx="5976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Capital não resolve nada sozinho — estrutura resolve. Toda empresa tem uma dinâmica própria de caixa, de ativos e de risco, e por isso não partimos de um produto de prateleira.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A Solar Capital nasceu em 2018. Hoje atuamos na originação, estruturação e gestão de operações de crédito, conectando empresas a capital e investidores à economia real.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PL de R$ 850 milhões e 4 FIDCs em operação — base julho de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4625125"/>
            <a:ext cx="43200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4751125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0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O QUE FAZEMOS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4931125"/>
            <a:ext cx="5976000" cy="68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5021125"/>
            <a:ext cx="5688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Crédito Estruturado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Capital de giro, antecipação de contratos, cadeia de fornecedores, recebíveis de cartão, consignado privado e gestão de fluxos.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5705125"/>
            <a:ext cx="5976000" cy="68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5795125"/>
            <a:ext cx="5688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Estruturação de FIDC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Do desenho à gestão de um fundo próprio, para empresas com escala e recorrência de originação.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6479125"/>
            <a:ext cx="5976000" cy="684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6569125"/>
            <a:ext cx="5688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Antecipação de Recebíveis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Operações pontuais, mais simples, para necessidades específicas de caixa.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9612000"/>
            <a:ext cx="5976000" cy="7620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96840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4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Solar Capital — Proposta Comercial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8000" y="9684000"/>
            <a:ext cx="1080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Página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9835200"/>
            <a:ext cx="5976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Rua Dr. Eduardo de Souza Aranha, 153 · 6º andar · Itaim Bibi · São Paulo/SP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9964800"/>
            <a:ext cx="5976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contato@solarcapital.com.br · +55 11 3856-1545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468000"/>
            <a:ext cx="1296000" cy="3051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2000" y="899125"/>
            <a:ext cx="5976000" cy="190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169125"/>
            <a:ext cx="59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ESCOPO DA PROPOSTA · [NOME DO CLIENTE]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1403125"/>
            <a:ext cx="5976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Estrutura proposta.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59125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2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357125"/>
            <a:ext cx="597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[Descreva, em uma ou duas frases, o objetivo da operação e a necessidade de capital identificada.]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2933125"/>
            <a:ext cx="59760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3077124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2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ESTRUTURA PROPOSTA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3275124"/>
            <a:ext cx="597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[Descreva o instrumento — FIDC, antecipação de recebíveis, capital de giro — e seus principais termos: classes de cota, garantias, covenants.]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3851124"/>
            <a:ext cx="59760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3995123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2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PRAZO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4193123"/>
            <a:ext cx="597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[Prazo da operação ou do fundo, cronograma de estruturação e data estimada de funding.]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4769123"/>
            <a:ext cx="59760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4913122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2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PARTES ENVOLVIDAS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111122"/>
            <a:ext cx="597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[Cedente(s), gestor, administrador, custodiante e demais prestadores de serviço da estrutura.]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687122"/>
            <a:ext cx="59760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00" y="9612000"/>
            <a:ext cx="5976000" cy="7620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96840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4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Solar Capital — Proposta Comercial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8000" y="9684000"/>
            <a:ext cx="1080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Página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9835200"/>
            <a:ext cx="5976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Rua Dr. Eduardo de Souza Aranha, 153 · 6º andar · Itaim Bibi · São Paulo/SP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9964800"/>
            <a:ext cx="5976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contato@solarcapital.com.br · +55 11 3856-1545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468000"/>
            <a:ext cx="1296000" cy="3051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2000" y="899125"/>
            <a:ext cx="5976000" cy="190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169125"/>
            <a:ext cx="59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TERMOS COMERCIAIS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1403125"/>
            <a:ext cx="5976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Estrutura de honorários.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997124"/>
            <a:ext cx="5976000" cy="32400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000" y="1997124"/>
            <a:ext cx="1565999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0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7999" y="1997124"/>
            <a:ext cx="2646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DESCRIÇÃO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3999" y="1997124"/>
            <a:ext cx="1494001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VALOR / CONDIÇÃO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321124"/>
            <a:ext cx="5976000" cy="55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000" y="2393124"/>
            <a:ext cx="1493999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Taxa de estruturação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7999" y="2393124"/>
            <a:ext cx="2574000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Estruturação jurídica, financeira e operacional do veículo ou da operação.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3999" y="2393124"/>
            <a:ext cx="1458002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[X,XX%] sobre [base]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879124"/>
            <a:ext cx="5976000" cy="5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000" y="2951124"/>
            <a:ext cx="1493999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Taxa de administração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7999" y="2951124"/>
            <a:ext cx="2574000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Administração fiduciária e gestão contínua da carteira.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3999" y="2951124"/>
            <a:ext cx="1458002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[X,XX% a.a.] sobre o PL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0" y="3437124"/>
            <a:ext cx="5976000" cy="558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000" y="3509124"/>
            <a:ext cx="1493999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Taxa de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7999" y="3509124"/>
            <a:ext cx="2574000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Aplicável acima do benchmark contratado.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3999" y="3509124"/>
            <a:ext cx="1458002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[X,XX%] sobre o excedente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3995124"/>
            <a:ext cx="5976000" cy="5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00" y="4067124"/>
            <a:ext cx="1493999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Despesas de estruturação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7999" y="4067124"/>
            <a:ext cx="2574000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Custas, registros, auditoria e rating, quando aplicável.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3999" y="4067124"/>
            <a:ext cx="1458002" cy="432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[A definir / repasse a valor de custo]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" y="1997124"/>
            <a:ext cx="5976000" cy="2556000"/>
          </a:xfrm>
          <a:prstGeom prst="rect">
            <a:avLst/>
          </a:prstGeom>
          <a:noFill/>
          <a:ln w="9525">
            <a:solidFill>
              <a:srgbClr val="E3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000" y="4733124"/>
            <a:ext cx="597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Valores sujeitos a aprovação de crédito e due diligence. Proposta válida por [XX] dias a partir da data de emissão.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9612000"/>
            <a:ext cx="5976000" cy="7620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96840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4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Solar Capital — Proposta Comercial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8000" y="9684000"/>
            <a:ext cx="1080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Página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9835200"/>
            <a:ext cx="5976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Rua Dr. Eduardo de Souza Aranha, 153 · 6º andar · Itaim Bibi · São Paulo/SP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00" y="9964800"/>
            <a:ext cx="5976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contato@solarcapital.com.br · +55 11 3856-1545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468000"/>
            <a:ext cx="1296000" cy="3051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2000" y="899125"/>
            <a:ext cx="5976000" cy="190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169125"/>
            <a:ext cx="59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1403125"/>
            <a:ext cx="5976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Como seguimos a partir daqui.</a:t>
            </a:r>
          </a:p>
        </p:txBody>
      </p:sp>
      <p:sp>
        <p:nvSpPr>
          <p:cNvPr id="6" name="Oval 5"/>
          <p:cNvSpPr/>
          <p:nvPr/>
        </p:nvSpPr>
        <p:spPr>
          <a:xfrm>
            <a:off x="792000" y="2087124"/>
            <a:ext cx="324000" cy="324000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2000" y="2094324"/>
            <a:ext cx="552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Alinhamento e due diligence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Validação dos dados da operação, documentação societária e financeira.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400" y="2411124"/>
            <a:ext cx="15875" cy="413999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2000" y="2825123"/>
            <a:ext cx="324000" cy="324000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2000" y="2832323"/>
            <a:ext cx="552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Estruturação jurídica e documentação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Elaboração de regulamento, contratos e instrumentos de garantia.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400" y="3149123"/>
            <a:ext cx="15875" cy="413999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000" y="3563122"/>
            <a:ext cx="324000" cy="324000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2000" y="3570322"/>
            <a:ext cx="552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Aprovação de crédito e comitê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Análise de risco e submissão ao comitê de crédito da Solar Capital.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400" y="3887122"/>
            <a:ext cx="15875" cy="413999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2000" y="4301121"/>
            <a:ext cx="324000" cy="324000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2000" y="4308321"/>
            <a:ext cx="552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Assinatura e formalização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Assinatura dos instrumentos e registro junto aos órgãos competentes.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400" y="4625121"/>
            <a:ext cx="15875" cy="413999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2000" y="5039120"/>
            <a:ext cx="324000" cy="324000"/>
          </a:xfrm>
          <a:prstGeom prst="ellipse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2000" y="5046320"/>
            <a:ext cx="552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Funding e início da operação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Integralização de cotas ou desembolso e início do monitoramento contínuo.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9612000"/>
            <a:ext cx="5976000" cy="7620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96840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4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Solar Capital — Proposta Comercial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8000" y="9684000"/>
            <a:ext cx="1080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Página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" y="9835200"/>
            <a:ext cx="5976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Rua Dr. Eduardo de Souza Aranha, 153 · 6º andar · Itaim Bibi · São Paulo/SP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000" y="9964800"/>
            <a:ext cx="5976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contato@solarcapital.com.br · +55 11 3856-1545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648000"/>
            <a:ext cx="1512000" cy="355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000" y="2160000"/>
            <a:ext cx="59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VAMOS CONVERSAR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2376000"/>
            <a:ext cx="43200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520000"/>
            <a:ext cx="597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Capital e empresas conectados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por estruturas melhores.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3564000"/>
            <a:ext cx="597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Ficamos à disposição para avançar com os próximos passos desta proposta.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4212000"/>
            <a:ext cx="115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0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E-MAIL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6000" y="4201200"/>
            <a:ext cx="475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contato@solarcapital.com.br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4482000"/>
            <a:ext cx="115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0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TELEFONE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6000" y="4471200"/>
            <a:ext cx="475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+55 11 3856-1545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4752000"/>
            <a:ext cx="115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0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ENDEREÇO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6000" y="4741200"/>
            <a:ext cx="475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Rua Dr. Eduardo de Souza Aranha, 153 · 6º andar · Itaim Bibi · São Paulo/SP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6048000"/>
            <a:ext cx="5976000" cy="7620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6192000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20">
                <a:solidFill>
                  <a:srgbClr val="9B96B8"/>
                </a:solidFill>
                <a:latin typeface="Montserrat SemiBold"/>
                <a:ea typeface="Montserrat SemiBold"/>
                <a:cs typeface="Montserrat SemiBold"/>
              </a:rPr>
              <a:t>ASSINATURAS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6984000"/>
            <a:ext cx="2772000" cy="9525"/>
          </a:xfrm>
          <a:prstGeom prst="rect">
            <a:avLst/>
          </a:prstGeom>
          <a:solidFill>
            <a:srgbClr val="9B9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7074000"/>
            <a:ext cx="27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Pela Solar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7254000"/>
            <a:ext cx="27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[Nome] · [Cargo]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7416000"/>
            <a:ext cx="27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Data: [__/__/____]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96000" y="6984000"/>
            <a:ext cx="2772000" cy="9525"/>
          </a:xfrm>
          <a:prstGeom prst="rect">
            <a:avLst/>
          </a:prstGeom>
          <a:solidFill>
            <a:srgbClr val="9B9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6000" y="7074000"/>
            <a:ext cx="27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Pelo Cliente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6000" y="7254000"/>
            <a:ext cx="27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[Nome] · [Cargo]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6000" y="7416000"/>
            <a:ext cx="27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Data: [__/__/____]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9576000"/>
            <a:ext cx="5976000" cy="7620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" y="9666000"/>
            <a:ext cx="36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· Documento confidencial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8000" y="9666000"/>
            <a:ext cx="10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Página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ED58D50DE1834C893F2B2667A51999" ma:contentTypeVersion="11" ma:contentTypeDescription="Crie um novo documento." ma:contentTypeScope="" ma:versionID="2f443012878aec1712e8c37e439e1f3b">
  <xsd:schema xmlns:xsd="http://www.w3.org/2001/XMLSchema" xmlns:xs="http://www.w3.org/2001/XMLSchema" xmlns:p="http://schemas.microsoft.com/office/2006/metadata/properties" xmlns:ns2="d235906c-2b19-4edb-a9cd-2968972d819c" xmlns:ns3="5a12d974-712b-42cf-ac9f-ed325d2db275" targetNamespace="http://schemas.microsoft.com/office/2006/metadata/properties" ma:root="true" ma:fieldsID="614ea2d73340a4f2459ac6fa1bd56008" ns2:_="" ns3:_="">
    <xsd:import namespace="d235906c-2b19-4edb-a9cd-2968972d819c"/>
    <xsd:import namespace="5a12d974-712b-42cf-ac9f-ed325d2db2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35906c-2b19-4edb-a9cd-2968972d8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10ac03ab-8548-4ef7-b0e2-cd6684823f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12d974-712b-42cf-ac9f-ed325d2db2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61eb28-ad59-4027-a765-3ed6b835ad5b}" ma:internalName="TaxCatchAll" ma:showField="CatchAllData" ma:web="5a12d974-712b-42cf-ac9f-ed325d2db2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35906c-2b19-4edb-a9cd-2968972d819c">
      <Terms xmlns="http://schemas.microsoft.com/office/infopath/2007/PartnerControls"/>
    </lcf76f155ced4ddcb4097134ff3c332f>
    <TaxCatchAll xmlns="5a12d974-712b-42cf-ac9f-ed325d2db275" xsi:nil="true"/>
  </documentManagement>
</p:properties>
</file>

<file path=customXml/itemProps1.xml><?xml version="1.0" encoding="utf-8"?>
<ds:datastoreItem xmlns:ds="http://schemas.openxmlformats.org/officeDocument/2006/customXml" ds:itemID="{F137D506-52BA-4449-9589-C258C8F7D496}"/>
</file>

<file path=customXml/itemProps2.xml><?xml version="1.0" encoding="utf-8"?>
<ds:datastoreItem xmlns:ds="http://schemas.openxmlformats.org/officeDocument/2006/customXml" ds:itemID="{8EA8EA1B-953A-472B-ABF4-A7BF71C36485}"/>
</file>

<file path=customXml/itemProps3.xml><?xml version="1.0" encoding="utf-8"?>
<ds:datastoreItem xmlns:ds="http://schemas.openxmlformats.org/officeDocument/2006/customXml" ds:itemID="{82AB0965-9EAB-46D5-8F8D-9A48E9828C0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0x010100F4ED58D50DE1834C893F2B2667A51999</vt:lpwstr>
  </property>
</Properties>
</file>