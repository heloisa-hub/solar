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bolo-orange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12618720" y="2194560"/>
            <a:ext cx="8686800" cy="9643562"/>
          </a:xfrm>
          <a:prstGeom prst="rect">
            <a:avLst/>
          </a:prstGeom>
          <a:effectLst/>
        </p:spPr>
      </p:pic>
      <p:pic>
        <p:nvPicPr>
          <p:cNvPr id="3" name="Picture 2" descr="logo-horizonta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85800"/>
            <a:ext cx="2514600" cy="5920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8250" y="324612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APRESENTAÇÃO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584448"/>
            <a:ext cx="50292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3886200"/>
            <a:ext cx="12070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Crédito estruturado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para a economia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58064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Originamos, estruturamos e gerimos operações de crédito desenvolvidas a partir das necessidades de empresas e investidores.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8250" y="9281160"/>
            <a:ext cx="15811500" cy="9525"/>
          </a:xfrm>
          <a:prstGeom prst="rect">
            <a:avLst/>
          </a:prstGeom>
          <a:solidFill>
            <a:srgbClr val="2A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8250" y="9436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 Capital · Agosto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150" y="94366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solarcapital.com.br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QUEM SOMOS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312545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Entender o negócio antes 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estruturar o capital.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2514600"/>
            <a:ext cx="775335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Capital não resolve nada sozinho — estrutura resolve.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Toda empresa tem uma dinâmica própria de caixa, de ativos e de risco. Por isso não partimos de um produto de prateleira: partimos do negócio que existe por trás da operação.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A Solar Capital nasceu em 2018 com foco em crédito para empresas. Hoje atuamos na originação, estruturação e gestão de operações de crédito, conectando empresas a diferentes fontes de capital e investidores a oportunidades da economia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2331720"/>
            <a:ext cx="50292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39425" y="2514600"/>
            <a:ext cx="6410325" cy="1207008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95457" y="2679192"/>
            <a:ext cx="589826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Crédito Estruturado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Capital de giro, antecipação de contratos, cadeia de fornecedores, recebíveis de cartão, consignado privado e gestão de fluxos.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39425" y="3922776"/>
            <a:ext cx="6410325" cy="1207008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95457" y="4087368"/>
            <a:ext cx="589826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Estruturação de FIDC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Do desenho à gestão de um fundo próprio, para empresas com escala e recorrência de originação.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39425" y="5330952"/>
            <a:ext cx="6410325" cy="1207008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95457" y="5495544"/>
            <a:ext cx="589826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Antecipação de Recebíveis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Operações pontuais, mais simples, para necessidades específicas de caixa.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Solar Capital — Apresentação Institucional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POSICIONAMENTO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44684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Vendemos especialização — não urgência.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874519"/>
            <a:ext cx="144684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O mesmo problema — crédito para uma empresa que não cabe no produto de prateleira — recebe respostas distintas. A estrutura é o que muda.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67325" y="3246120"/>
            <a:ext cx="37242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10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BANCO TRADICIONAL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0" y="3246120"/>
            <a:ext cx="37242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10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FINTECH DE CRÉDITO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25475" y="3246120"/>
            <a:ext cx="37242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10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SOLAR CAPITAL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5475" y="3730752"/>
            <a:ext cx="3724275" cy="28575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8250" y="3931920"/>
            <a:ext cx="3724275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Como analisamos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o risco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67325" y="3931920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Score genérico, sem olhar a operação.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0" y="3931920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Modelo automatizado por dados de conta — rápido, raso.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60883" y="3822192"/>
            <a:ext cx="4053459" cy="1298448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25475" y="3931920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1E18"/>
                </a:solidFill>
                <a:latin typeface="Montserrat Medium"/>
                <a:ea typeface="Montserrat Medium"/>
                <a:cs typeface="Montserrat Medium"/>
              </a:rPr>
              <a:t>Análise individual: recebíveis, garantias e capacidade de pagamento.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12064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5230368"/>
            <a:ext cx="3724275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Estruturação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da operação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7325" y="5230368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Produto de prateleira, mesma linha para qualquer empresa.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6400" y="5230368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Produto digital padronizado, pouca margem de customização.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60883" y="5120640"/>
            <a:ext cx="4053459" cy="1298448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25475" y="5230368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1E18"/>
                </a:solidFill>
                <a:latin typeface="Montserrat Medium"/>
                <a:ea typeface="Montserrat Medium"/>
                <a:cs typeface="Montserrat Medium"/>
              </a:rPr>
              <a:t>Estrutura sob medida — FIDC próprio quando a escala justifica.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8250" y="6419088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6528816"/>
            <a:ext cx="3724275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Governança para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o investidor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7325" y="6528816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Não se aplica — crédito fica no balanço do banco.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400" y="6528816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Baixa transparência, sem custódia ou rating independente.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60883" y="6419088"/>
            <a:ext cx="4053459" cy="1298448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25475" y="6528816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1E18"/>
                </a:solidFill>
                <a:latin typeface="Montserrat Medium"/>
                <a:ea typeface="Montserrat Medium"/>
                <a:cs typeface="Montserrat Medium"/>
              </a:rPr>
              <a:t>Custódia, rating e data-base publicados em cada fundo.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8250" y="7717536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7827264"/>
            <a:ext cx="3724275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Velocidade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de decisão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7325" y="7827264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Lenta — passa por comitê e alçadas internas.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6400" y="7827264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Rápida, mas descolada do fôlego real da empresa.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160883" y="7717536"/>
            <a:ext cx="4053459" cy="1298448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25475" y="7827264"/>
            <a:ext cx="3678555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1E18"/>
                </a:solidFill>
                <a:latin typeface="Montserrat Medium"/>
                <a:ea typeface="Montserrat Medium"/>
                <a:cs typeface="Montserrat Medium"/>
              </a:rPr>
              <a:t>Rápida porque a originação já nasce estruturada.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8250" y="9015984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Solar Capital — Apresentação Institucional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COMO ATUAMOS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44684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Cada operação começa pelo entendimento do negócio.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874519"/>
            <a:ext cx="1312545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Não partimos de uma estrutura pronta. Analisamos a empresa, seus recebíveis, garantias e necessidade de capital antes de propor uma solução.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60651" y="3648456"/>
            <a:ext cx="13966698" cy="1587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1195" y="3429000"/>
            <a:ext cx="438912" cy="438912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9755" y="4087368"/>
            <a:ext cx="28201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Originação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Identificação de empresas, ativos e oportunidades de crédito.</a:t>
            </a:r>
          </a:p>
        </p:txBody>
      </p:sp>
      <p:sp>
        <p:nvSpPr>
          <p:cNvPr id="8" name="Oval 7"/>
          <p:cNvSpPr/>
          <p:nvPr/>
        </p:nvSpPr>
        <p:spPr>
          <a:xfrm>
            <a:off x="4883277" y="3429000"/>
            <a:ext cx="438912" cy="438912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1837" y="4087368"/>
            <a:ext cx="28201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Análise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Avaliação financeira, operacional e das fontes de pagamento.</a:t>
            </a:r>
          </a:p>
        </p:txBody>
      </p:sp>
      <p:sp>
        <p:nvSpPr>
          <p:cNvPr id="10" name="Oval 9"/>
          <p:cNvSpPr/>
          <p:nvPr/>
        </p:nvSpPr>
        <p:spPr>
          <a:xfrm>
            <a:off x="7825359" y="3429000"/>
            <a:ext cx="438912" cy="438912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3919" y="4087368"/>
            <a:ext cx="28201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Estruturação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Instrumento, prazo, garantias, covenants e mecanismos de proteção.</a:t>
            </a:r>
          </a:p>
        </p:txBody>
      </p:sp>
      <p:sp>
        <p:nvSpPr>
          <p:cNvPr id="12" name="Oval 11"/>
          <p:cNvSpPr/>
          <p:nvPr/>
        </p:nvSpPr>
        <p:spPr>
          <a:xfrm>
            <a:off x="10767441" y="3429000"/>
            <a:ext cx="438912" cy="438912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76001" y="4087368"/>
            <a:ext cx="28201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Funding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Conexão da operação às fontes de capital compatíveis.</a:t>
            </a:r>
          </a:p>
        </p:txBody>
      </p:sp>
      <p:sp>
        <p:nvSpPr>
          <p:cNvPr id="14" name="Oval 13"/>
          <p:cNvSpPr/>
          <p:nvPr/>
        </p:nvSpPr>
        <p:spPr>
          <a:xfrm>
            <a:off x="13709523" y="3429000"/>
            <a:ext cx="438912" cy="438912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18083" y="4087368"/>
            <a:ext cx="28201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Gestão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Monitoramento contínuo da carteira, das garantias e do desempenho.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8250" y="7818120"/>
            <a:ext cx="73152" cy="77724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8290" y="7818120"/>
            <a:ext cx="1178242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1E18"/>
                </a:solidFill>
                <a:latin typeface="Montserrat Medium"/>
                <a:ea typeface="Montserrat Medium"/>
                <a:cs typeface="Montserrat Medium"/>
              </a:rPr>
              <a:t>A mesma disciplina se aplica a uma operação isolada e à gestão contínua de um fundo.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Solar Capital — Apresentação Institucional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A SOLAR EM NÚMEROS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312545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Uma casa de crédito estruturado, em escala.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3063240"/>
            <a:ext cx="29184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R$ 850 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4023360"/>
            <a:ext cx="29184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Patrimônio sob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1510" y="3063240"/>
            <a:ext cx="29184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1510" y="4023360"/>
            <a:ext cx="29184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FIDCs em operação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4770" y="3063240"/>
            <a:ext cx="29184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8 anos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4770" y="4023360"/>
            <a:ext cx="29184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De atuação no mercado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08030" y="3063240"/>
            <a:ext cx="29184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30" y="4023360"/>
            <a:ext cx="29184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Cedentes ativos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31290" y="3063240"/>
            <a:ext cx="29184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4.500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31290" y="4023360"/>
            <a:ext cx="29184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Sacados ativos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074920"/>
            <a:ext cx="15811500" cy="9525"/>
          </a:xfrm>
          <a:prstGeom prst="rect">
            <a:avLst/>
          </a:prstGeom>
          <a:solidFill>
            <a:srgbClr val="2A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5349240"/>
            <a:ext cx="10439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15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TRAJETÓRIA DESDE 2018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5806440"/>
            <a:ext cx="37242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R$ 7,4 bn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50" y="6464808"/>
            <a:ext cx="3724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Operado desde 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50" y="6793992"/>
            <a:ext cx="3724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88E"/>
                </a:solidFill>
                <a:latin typeface="Montserrat"/>
                <a:ea typeface="Montserrat"/>
                <a:cs typeface="Montserrat"/>
              </a:rPr>
              <a:t>Volume acumulado · atualização jul/2026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7325" y="5806440"/>
            <a:ext cx="37242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R$ 6,2 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7325" y="6464808"/>
            <a:ext cx="3724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Liquidados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7325" y="6793992"/>
            <a:ext cx="3724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88E"/>
                </a:solidFill>
                <a:latin typeface="Montserrat"/>
                <a:ea typeface="Montserrat"/>
                <a:cs typeface="Montserrat"/>
              </a:rPr>
              <a:t>Volume acumulado · atualização jul/2026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6400" y="5806440"/>
            <a:ext cx="37242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R$ 55 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400" y="6464808"/>
            <a:ext cx="3724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Capital próprio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6400" y="6793992"/>
            <a:ext cx="3724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88E"/>
                </a:solidFill>
                <a:latin typeface="Montserrat"/>
                <a:ea typeface="Montserrat"/>
                <a:cs typeface="Montserrat"/>
              </a:rPr>
              <a:t>Base julho de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8732520"/>
            <a:ext cx="117824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688E"/>
                </a:solidFill>
                <a:latin typeface="Montserrat"/>
                <a:ea typeface="Montserrat"/>
                <a:cs typeface="Montserrat"/>
              </a:rPr>
              <a:t>Todos os indicadores da linha superior têm base julho de 2026.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2A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 Capital — Apresentação Institucional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1417320"/>
            <a:ext cx="8229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0" b="0" i="0">
                <a:solidFill>
                  <a:srgbClr val="2A2055"/>
                </a:solidFill>
                <a:latin typeface="Montserrat SemiBold"/>
                <a:ea typeface="Montserrat SemiBold"/>
                <a:cs typeface="Montserrat SemiBold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8250" y="5989320"/>
            <a:ext cx="54864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8250" y="6263640"/>
            <a:ext cx="1178242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FIDCs: a estrutura por trás do capital.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7360920"/>
            <a:ext cx="10439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Como a Solar transforma direitos creditórios em uma plataforma de funding permanente.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2A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 Capital — Apresentação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FIDCS COMO 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44684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Uma estrutura para transformar crédito em capital.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874519"/>
            <a:ext cx="1312545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Um FIDC reúne direitos creditórios em uma estrutura segregada, com governança própria e acesso a diferentes fontes de capital.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246120"/>
            <a:ext cx="4884420" cy="19202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94282" y="34472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9B29E"/>
                </a:solidFill>
                <a:latin typeface="Montserrat SemiBold"/>
                <a:ea typeface="Montserrat SemiBold"/>
                <a:cs typeface="Montserrat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4282" y="3904488"/>
            <a:ext cx="43723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Segregação patrimonial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Patrimônio próprio, separado dos demais ativos dos participantes.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10350" y="3246120"/>
            <a:ext cx="4884420" cy="19202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66382" y="34472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9B29E"/>
                </a:solidFill>
                <a:latin typeface="Montserrat SemiBold"/>
                <a:ea typeface="Montserrat SemiBold"/>
                <a:cs typeface="Montserrat Semi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6382" y="3904488"/>
            <a:ext cx="43723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Governança própria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Regras e critérios definidos em regulamento, com papéis claros entre os agentes.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82450" y="3246120"/>
            <a:ext cx="4884420" cy="19202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38482" y="34472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9B29E"/>
                </a:solidFill>
                <a:latin typeface="Montserrat SemiBold"/>
                <a:ea typeface="Montserrat SemiBold"/>
                <a:cs typeface="Montserrat Semi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38482" y="3904488"/>
            <a:ext cx="43723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Funding recorrente e escalável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Estrutura permanente de capital, não uma captação pontual.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422392"/>
            <a:ext cx="4884420" cy="19202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94282" y="56235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9B29E"/>
                </a:solidFill>
                <a:latin typeface="Montserrat SemiBold"/>
                <a:ea typeface="Montserrat SemiBold"/>
                <a:cs typeface="Montserrat SemiBol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4282" y="6080760"/>
            <a:ext cx="43723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Política de crédito organizada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Critérios de elegibilidade e concentração definidos previamente.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10350" y="5422392"/>
            <a:ext cx="4884420" cy="19202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6382" y="56235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9B29E"/>
                </a:solidFill>
                <a:latin typeface="Montserrat SemiBold"/>
                <a:ea typeface="Montserrat SemiBold"/>
                <a:cs typeface="Montserrat SemiBol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6382" y="6080760"/>
            <a:ext cx="43723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Acesso a investidores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Diferentes classes de cotas conectam o portfólio a novas fontes de capital.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982450" y="5422392"/>
            <a:ext cx="4884420" cy="19202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38482" y="56235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9B29E"/>
                </a:solidFill>
                <a:latin typeface="Montserrat SemiBold"/>
                <a:ea typeface="Montserrat SemiBold"/>
                <a:cs typeface="Montserrat SemiBold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38482" y="6080760"/>
            <a:ext cx="43723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Monitoramento contínuo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Acompanhamento permanente da carteira, dos riscos e das garantias.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Solar Capital — Apresentação Institucional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FIDCS COMO 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44684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Um patrimônio segregado, com governança própria.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874519"/>
            <a:ext cx="1312545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O FIDC organiza a política de crédito e a relação com investidores em um veículo permanente — não uma captação pontual.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657600"/>
            <a:ext cx="3724275" cy="23774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75994" y="3877056"/>
            <a:ext cx="324878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spc="12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EMPRESAS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Cedentes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Direitos creditórios originados na economia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2525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5445" y="3493008"/>
            <a:ext cx="5067300" cy="2706624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5445" y="3493008"/>
            <a:ext cx="506730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9765" y="3822192"/>
            <a:ext cx="45186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 spc="12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FIDC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Patrimônio segregado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Governança própria em regulamento, estrutura de cotas por nível de subordinação e custódia independente.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2745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35665" y="3657600"/>
            <a:ext cx="3724275" cy="23774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73409" y="3877056"/>
            <a:ext cx="324878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spc="12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INVESTIDORES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Cotistas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Exposição a direitos creditórios, com monitoramento contínuo da carteira.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6720840"/>
            <a:ext cx="1312545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11E18"/>
                </a:solidFill>
                <a:latin typeface="Montserrat Medium"/>
                <a:ea typeface="Montserrat Medium"/>
                <a:cs typeface="Montserrat Medium"/>
              </a:rPr>
              <a:t>Capital não resolve nada sozinho — estrutura resolve.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Solar Capital — Apresentação Institucional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FUNDOS SOB GESTÃO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44684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Quatro FIDCs, cada um com sua própria estrutura de cotas.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874519"/>
            <a:ext cx="131254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Patrimônio líquido e rentabilidade da classe principal · base julho de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063240"/>
            <a:ext cx="7616190" cy="233172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12570" y="3246120"/>
            <a:ext cx="7067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Solar I FIDC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570" y="3685032"/>
            <a:ext cx="706755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70222"/>
                </a:solidFill>
                <a:latin typeface="Montserrat SemiBold"/>
                <a:ea typeface="Montserrat SemiBold"/>
                <a:cs typeface="Montserrat SemiBold"/>
              </a:rPr>
              <a:t>R$ 61,9 mi</a:t>
            </a:r>
            <a:r>
              <a:rPr sz="12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   Início dez/2025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570" y="4233672"/>
            <a:ext cx="7067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MULTICEDENTE / MULTISSACADO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2570" y="4507992"/>
            <a:ext cx="7067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Classe Sênior · 5,6% no ano (122% do CDI)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2570" y="4965192"/>
            <a:ext cx="7067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Gestor: Fram Capital · Adm.: Q.I. Tech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33560" y="3063240"/>
            <a:ext cx="7616190" cy="233172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33560" y="3063240"/>
            <a:ext cx="7616190" cy="317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07880" y="3246120"/>
            <a:ext cx="7067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Solar Puglia FIDC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7880" y="3685032"/>
            <a:ext cx="706755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70222"/>
                </a:solidFill>
                <a:latin typeface="Montserrat SemiBold"/>
                <a:ea typeface="Montserrat SemiBold"/>
                <a:cs typeface="Montserrat SemiBold"/>
              </a:rPr>
              <a:t>R$ 311,2 mi</a:t>
            </a:r>
            <a:r>
              <a:rPr sz="12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   Início dez/2023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7880" y="4233672"/>
            <a:ext cx="7067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PROPRIETÁRIO · MAIOR FUNDO DA FAMÍLIA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7880" y="4507992"/>
            <a:ext cx="7067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Sênior1 · CDI + 4,00% a.a. · 18,9% em 12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07880" y="4965192"/>
            <a:ext cx="7067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Gestor: Iggy Investimentos · Adm./Cust.: Singulare · Rating: Austin Rating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8250" y="5614416"/>
            <a:ext cx="7616190" cy="233172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12570" y="5797296"/>
            <a:ext cx="7067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Solar Vialoc FIDC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570" y="6236208"/>
            <a:ext cx="706755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70222"/>
                </a:solidFill>
                <a:latin typeface="Montserrat SemiBold"/>
                <a:ea typeface="Montserrat SemiBold"/>
                <a:cs typeface="Montserrat SemiBold"/>
              </a:rPr>
              <a:t>R$ 65,2 mi</a:t>
            </a:r>
            <a:r>
              <a:rPr sz="12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   Início abr/2021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2570" y="6784848"/>
            <a:ext cx="7067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PROPRIETÁRIO · GRUPO SUPPORTE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2570" y="7059168"/>
            <a:ext cx="7067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Sênior2 (brBBB+) · CDI + 4,00% a.a. · 19,3% em 12 meses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570" y="7516368"/>
            <a:ext cx="7067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Gestor: Iggy Investimentos · Adm./Cust.: Singulare · Rating: Austin Rating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33560" y="5614416"/>
            <a:ext cx="7616190" cy="233172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7880" y="5797296"/>
            <a:ext cx="7067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Solar Belmonte FIDC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7880" y="6236208"/>
            <a:ext cx="706755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70222"/>
                </a:solidFill>
                <a:latin typeface="Montserrat SemiBold"/>
                <a:ea typeface="Montserrat SemiBold"/>
                <a:cs typeface="Montserrat SemiBold"/>
              </a:rPr>
              <a:t>R$ 24,9 mi</a:t>
            </a:r>
            <a:r>
              <a:rPr sz="12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   Início fev/2025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7880" y="6784848"/>
            <a:ext cx="7067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PROPRIETÁRIO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7880" y="7059168"/>
            <a:ext cx="70675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Sênior · CDI + 4,25% a.a. · 19,6% em 12 meses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7880" y="7516368"/>
            <a:ext cx="7067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Gestor: Iggy Investimentos · Adm./Cust.: Singulare · Rating: Austin Rating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Solar Capital — Apresentação Institucional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LIDERANÇA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44684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Experiência construída no mercado de crédito.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8250" y="2468880"/>
            <a:ext cx="4884420" cy="55778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12570" y="2743200"/>
            <a:ext cx="777240" cy="777240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2570" y="3703320"/>
            <a:ext cx="43357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0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FOUNDER &amp; MANAGING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570" y="3995928"/>
            <a:ext cx="43357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Leonardo Ciasca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570" y="4480560"/>
            <a:ext cx="43357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Mais de 25 anos no mercado financeiro, com atuação em crédito, Middle Market, Corporate e relações com investidores.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2570" y="5760720"/>
            <a:ext cx="433578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2570" y="5916168"/>
            <a:ext cx="43357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0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TRAJETÓRIA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570" y="6190488"/>
            <a:ext cx="43357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Ex-Goal Capital (Managing Partner) · Ex-Global Capital · Ex-HSBC (7 anos)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2570" y="6949440"/>
            <a:ext cx="433578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2570" y="7104888"/>
            <a:ext cx="43357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MBA em Comunicação e RI pela USP; mestre em Política e Estratégia.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0350" y="2468880"/>
            <a:ext cx="4884420" cy="55778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84670" y="2743200"/>
            <a:ext cx="777240" cy="777240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DM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4670" y="3703320"/>
            <a:ext cx="43357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0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4670" y="3995928"/>
            <a:ext cx="43357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Diego Moreno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4670" y="4480560"/>
            <a:ext cx="43357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Mais de 20 anos no mercado financeiro brasileiro, com atuação em crédito privado, private equity e investment banking.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84670" y="5760720"/>
            <a:ext cx="433578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4670" y="5916168"/>
            <a:ext cx="43357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0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TRAJETÓRIA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4670" y="6190488"/>
            <a:ext cx="43357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Ex-BrSurgery (CFO) · Ex-Fosun · Ex-BofA Merrill Lynch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84670" y="6949440"/>
            <a:ext cx="433578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4670" y="7104888"/>
            <a:ext cx="43357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Administração com ênfase em Finanças pela FEA-USP.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982450" y="2468880"/>
            <a:ext cx="4884420" cy="55778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256770" y="2743200"/>
            <a:ext cx="777240" cy="777240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6770" y="3703320"/>
            <a:ext cx="43357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0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PARTNER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6770" y="3995928"/>
            <a:ext cx="43357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Luiz Simione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6770" y="4480560"/>
            <a:ext cx="43357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Décadas de experiência em finanças e investimentos para Ásia e América Latina.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256770" y="5760720"/>
            <a:ext cx="433578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56770" y="5916168"/>
            <a:ext cx="43357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0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TRAJETÓRIA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56770" y="6190488"/>
            <a:ext cx="43357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Ex-HSBC (18 anos, Global Head of Forfaiting) · Ex-Bradesco (CEO Ásia)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56770" y="6949440"/>
            <a:ext cx="433578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256770" y="7104888"/>
            <a:ext cx="43357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MBA pelo IMD; programa de liderança pelo INSEAD.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Solar Capital — Apresentação Institucional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bolo-orange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13533120" y="-914400"/>
            <a:ext cx="6858000" cy="7613339"/>
          </a:xfrm>
          <a:prstGeom prst="rect">
            <a:avLst/>
          </a:prstGeom>
          <a:effectLst/>
        </p:spPr>
      </p:pic>
      <p:pic>
        <p:nvPicPr>
          <p:cNvPr id="3" name="Picture 2" descr="logo-horizonta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85800"/>
            <a:ext cx="2194560" cy="516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8250" y="233172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VAMOS CONVERSAR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2670048"/>
            <a:ext cx="50292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2971800"/>
            <a:ext cx="12344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Capital e empresas conectados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por estruturas melhores.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4754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Fale com a nossa equipe sobre crédito, FIDCs ou fundos de investimento.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576072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E-MAIL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1370" y="5742432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contato@solarcapital.com.br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63276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TELEFONE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1370" y="630936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+55 11 3856-1545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6894576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ENDEREÇO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1370" y="6876288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Rua Dr. Eduardo de Souza Aranha, 153 · 6º andar · São Paulo/SP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2A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 Capital — Apresentação Institucional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SemiBold"/>
                <a:ea typeface="Montserrat SemiBold"/>
                <a:cs typeface="Montserrat SemiBold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ED58D50DE1834C893F2B2667A51999" ma:contentTypeVersion="11" ma:contentTypeDescription="Crie um novo documento." ma:contentTypeScope="" ma:versionID="2f443012878aec1712e8c37e439e1f3b">
  <xsd:schema xmlns:xsd="http://www.w3.org/2001/XMLSchema" xmlns:xs="http://www.w3.org/2001/XMLSchema" xmlns:p="http://schemas.microsoft.com/office/2006/metadata/properties" xmlns:ns2="d235906c-2b19-4edb-a9cd-2968972d819c" xmlns:ns3="5a12d974-712b-42cf-ac9f-ed325d2db275" targetNamespace="http://schemas.microsoft.com/office/2006/metadata/properties" ma:root="true" ma:fieldsID="614ea2d73340a4f2459ac6fa1bd56008" ns2:_="" ns3:_="">
    <xsd:import namespace="d235906c-2b19-4edb-a9cd-2968972d819c"/>
    <xsd:import namespace="5a12d974-712b-42cf-ac9f-ed325d2db2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35906c-2b19-4edb-a9cd-2968972d8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10ac03ab-8548-4ef7-b0e2-cd6684823f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12d974-712b-42cf-ac9f-ed325d2db2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61eb28-ad59-4027-a765-3ed6b835ad5b}" ma:internalName="TaxCatchAll" ma:showField="CatchAllData" ma:web="5a12d974-712b-42cf-ac9f-ed325d2db2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35906c-2b19-4edb-a9cd-2968972d819c">
      <Terms xmlns="http://schemas.microsoft.com/office/infopath/2007/PartnerControls"/>
    </lcf76f155ced4ddcb4097134ff3c332f>
    <TaxCatchAll xmlns="5a12d974-712b-42cf-ac9f-ed325d2db275" xsi:nil="true"/>
  </documentManagement>
</p:properties>
</file>

<file path=customXml/itemProps1.xml><?xml version="1.0" encoding="utf-8"?>
<ds:datastoreItem xmlns:ds="http://schemas.openxmlformats.org/officeDocument/2006/customXml" ds:itemID="{D26BFE5B-4499-43EA-911B-45380688383F}"/>
</file>

<file path=customXml/itemProps2.xml><?xml version="1.0" encoding="utf-8"?>
<ds:datastoreItem xmlns:ds="http://schemas.openxmlformats.org/officeDocument/2006/customXml" ds:itemID="{E228635C-831C-4B31-93F1-BFDEBD550500}"/>
</file>

<file path=customXml/itemProps3.xml><?xml version="1.0" encoding="utf-8"?>
<ds:datastoreItem xmlns:ds="http://schemas.openxmlformats.org/officeDocument/2006/customXml" ds:itemID="{E93B8C50-D13C-485F-8BBD-F21A6DDEEFA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0x010100F4ED58D50DE1834C893F2B2667A51999</vt:lpwstr>
  </property>
</Properties>
</file>