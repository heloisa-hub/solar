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oisa Cabral" userId="17ff8348-d192-40d6-9508-628f3ebb1827" providerId="ADAL" clId="{C373932E-EBD5-4393-85FE-25E64CD3FCFD}"/>
    <pc:docChg chg="modSld">
      <pc:chgData name="Heloisa Cabral" userId="17ff8348-d192-40d6-9508-628f3ebb1827" providerId="ADAL" clId="{C373932E-EBD5-4393-85FE-25E64CD3FCFD}" dt="2026-08-28T18:56:48.911" v="0" actId="1076"/>
      <pc:docMkLst>
        <pc:docMk/>
      </pc:docMkLst>
      <pc:sldChg chg="modSp mod">
        <pc:chgData name="Heloisa Cabral" userId="17ff8348-d192-40d6-9508-628f3ebb1827" providerId="ADAL" clId="{C373932E-EBD5-4393-85FE-25E64CD3FCFD}" dt="2026-08-28T18:56:48.911" v="0" actId="1076"/>
        <pc:sldMkLst>
          <pc:docMk/>
          <pc:sldMk cId="0" sldId="256"/>
        </pc:sldMkLst>
        <pc:picChg chg="mod">
          <ac:chgData name="Heloisa Cabral" userId="17ff8348-d192-40d6-9508-628f3ebb1827" providerId="ADAL" clId="{C373932E-EBD5-4393-85FE-25E64CD3FCFD}" dt="2026-08-28T18:56:48.911" v="0" actId="1076"/>
          <ac:picMkLst>
            <pc:docMk/>
            <pc:sldMk cId="0" sldId="256"/>
            <ac:picMk id="9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200">
                <a:solidFill>
                  <a:srgbClr val="FFB22B"/>
                </a:solidFill>
                <a:latin typeface="Montserrat"/>
              </a:rPr>
              <a:t>SOLAR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One-Pager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918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Montserrat"/>
              </a:rPr>
              <a:t>Crédito estruturado para a economia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SÍMBOLO &amp; LOGOTIPO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291840" cy="141732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ogo-stacked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58" y="1703070"/>
            <a:ext cx="1129364" cy="1170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12724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>
                <a:solidFill>
                  <a:srgbClr val="6B6B6B"/>
                </a:solidFill>
                <a:latin typeface="Montserrat"/>
              </a:rPr>
              <a:t>Área de respiro mínima: altura do "S" do símbolo em todos os lados. Nunca recolorir, distorcer, girar ou aplicar sombra/gradiente.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USO RÁPIDO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—  Símbolo isolado → avatares, favicon, redes sociais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0740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—  Empilhado (vertical) → capas, apresentações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001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—  Horizontal → cabeçalhos, papelaria, rodapés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7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TOM DE VOZ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5955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Institucional, específico, sem adjetivo vazio. Números sempre com data-base. Frases curtas — um argumento por vez.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2344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PALETA DE 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572768"/>
            <a:ext cx="1554480" cy="77724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0248" y="166420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ontserrat"/>
              </a:rPr>
              <a:t>Navy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93852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FFFFFF"/>
                </a:solidFill>
                <a:latin typeface="Montserrat"/>
              </a:rPr>
              <a:t>Base institucional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62763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52525"/>
                </a:solidFill>
                <a:latin typeface="Montserrat"/>
              </a:rPr>
              <a:t>HEX  #070222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86537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RGB  7 · 2 · 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450592"/>
            <a:ext cx="1554480" cy="77724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0248" y="25420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70222"/>
                </a:solidFill>
                <a:latin typeface="Montserrat"/>
              </a:rPr>
              <a:t>Gold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8163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070222"/>
                </a:solidFill>
                <a:latin typeface="Montserrat"/>
              </a:rPr>
              <a:t>Acento — usar com escassez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50545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52525"/>
                </a:solidFill>
                <a:latin typeface="Montserrat"/>
              </a:rPr>
              <a:t>HEX  #FFB22B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7432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RGB  255 · 178 · 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328416"/>
            <a:ext cx="1554480" cy="77724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70248" y="341985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2525"/>
                </a:solidFill>
                <a:latin typeface="Montserrat"/>
              </a:rPr>
              <a:t>Paper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369417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252525"/>
                </a:solidFill>
                <a:latin typeface="Montserrat"/>
              </a:rPr>
              <a:t>Fundo padrão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383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52525"/>
                </a:solidFill>
                <a:latin typeface="Montserrat"/>
              </a:rPr>
              <a:t>HEX  #FAF7F1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62102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RGB  250 · 247 · 241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1148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FUNCIONAIS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434840"/>
            <a:ext cx="502920" cy="411480"/>
          </a:xfrm>
          <a:prstGeom prst="rect">
            <a:avLst/>
          </a:prstGeom>
          <a:solidFill>
            <a:srgbClr val="2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60520" y="48920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52525"/>
                </a:solidFill>
                <a:latin typeface="Montserrat"/>
              </a:rPr>
              <a:t>Tinta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5074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#252525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4434840"/>
            <a:ext cx="502920" cy="411480"/>
          </a:xfrm>
          <a:prstGeom prst="rect">
            <a:avLst/>
          </a:prstGeom>
          <a:solidFill>
            <a:srgbClr val="034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94960" y="48920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52525"/>
                </a:solidFill>
                <a:latin typeface="Montserrat"/>
              </a:rPr>
              <a:t>Azul (links)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074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#0345BF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4434840"/>
            <a:ext cx="502920" cy="411480"/>
          </a:xfrm>
          <a:prstGeom prst="rect">
            <a:avLst/>
          </a:prstGeom>
          <a:solidFill>
            <a:srgbClr val="28B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48920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52525"/>
                </a:solidFill>
                <a:latin typeface="Montserrat"/>
              </a:rPr>
              <a:t>Positivo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074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#28BD73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34924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>
                <a:solidFill>
                  <a:srgbClr val="6B6B6B"/>
                </a:solidFill>
                <a:latin typeface="Montserrat"/>
              </a:rPr>
              <a:t>Dourado sobre navy alcança contraste 11,2:1 (AAA). Azul é reservado a links e estados — nunca compete com o dourado no mesmo elemento.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12344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TIPOGRAFIA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157276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70222"/>
                </a:solidFill>
                <a:latin typeface="Montserrat"/>
              </a:rPr>
              <a:t>Montserrat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221284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B6B6B"/>
                </a:solidFill>
                <a:latin typeface="Montserrat"/>
              </a:rPr>
              <a:t>Família única, do título ao rodapé. Google Fonts.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6060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52525"/>
                </a:solidFill>
                <a:latin typeface="Montserrat"/>
              </a:rPr>
              <a:t>Estrutura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19" y="264261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E89A14"/>
                </a:solidFill>
                <a:latin typeface="Montserrat"/>
              </a:rPr>
              <a:t>SemiBold 600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19" y="28437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6B6B"/>
                </a:solidFill>
                <a:latin typeface="Montserrat"/>
              </a:rPr>
              <a:t>Títulos, números-destaque, nome de seção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317296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52525"/>
                </a:solidFill>
                <a:latin typeface="Montserrat"/>
              </a:rPr>
              <a:t>Estrutura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19" y="320954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E89A14"/>
                </a:solidFill>
                <a:latin typeface="Montserrat"/>
              </a:rPr>
              <a:t>Medium 500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19" y="34107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6B6B"/>
                </a:solidFill>
                <a:latin typeface="Montserrat"/>
              </a:rPr>
              <a:t>Legendas, rótulos, tabelas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73989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52525"/>
                </a:solidFill>
                <a:latin typeface="Montserrat"/>
              </a:rPr>
              <a:t>Estrutura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6919" y="3776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E89A14"/>
                </a:solidFill>
                <a:latin typeface="Montserrat"/>
              </a:rPr>
              <a:t>Regular 400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19" y="397763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0">
                <a:solidFill>
                  <a:srgbClr val="6B6B6B"/>
                </a:solidFill>
                <a:latin typeface="Montserrat"/>
              </a:rPr>
              <a:t>Texto corrido, parágrafos longos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4434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E89A14"/>
                </a:solidFill>
                <a:latin typeface="Montserrat"/>
              </a:rPr>
              <a:t>CONTATO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5488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solarcapital.com.br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502920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contato@solarcapital.com.br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530352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+55 11 3856-1545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557784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52525"/>
                </a:solidFill>
                <a:latin typeface="Montserrat"/>
              </a:rPr>
              <a:t>Rua Dr. Eduardo de Souza Aranha, 153, 6º andar — São Paulo/SP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6510528"/>
            <a:ext cx="11183112" cy="18288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Solar Capital — Referência de marca em 1 página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65836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Guia completo: Brand Book v3 · Agosto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35906c-2b19-4edb-a9cd-2968972d819c">
      <Terms xmlns="http://schemas.microsoft.com/office/infopath/2007/PartnerControls"/>
    </lcf76f155ced4ddcb4097134ff3c332f>
    <TaxCatchAll xmlns="5a12d974-712b-42cf-ac9f-ed325d2db2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ED58D50DE1834C893F2B2667A51999" ma:contentTypeVersion="11" ma:contentTypeDescription="Crie um novo documento." ma:contentTypeScope="" ma:versionID="2f443012878aec1712e8c37e439e1f3b">
  <xsd:schema xmlns:xsd="http://www.w3.org/2001/XMLSchema" xmlns:xs="http://www.w3.org/2001/XMLSchema" xmlns:p="http://schemas.microsoft.com/office/2006/metadata/properties" xmlns:ns2="d235906c-2b19-4edb-a9cd-2968972d819c" xmlns:ns3="5a12d974-712b-42cf-ac9f-ed325d2db275" targetNamespace="http://schemas.microsoft.com/office/2006/metadata/properties" ma:root="true" ma:fieldsID="614ea2d73340a4f2459ac6fa1bd56008" ns2:_="" ns3:_="">
    <xsd:import namespace="d235906c-2b19-4edb-a9cd-2968972d819c"/>
    <xsd:import namespace="5a12d974-712b-42cf-ac9f-ed325d2db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5906c-2b19-4edb-a9cd-2968972d8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0ac03ab-8548-4ef7-b0e2-cd6684823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2d974-712b-42cf-ac9f-ed325d2db2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61eb28-ad59-4027-a765-3ed6b835ad5b}" ma:internalName="TaxCatchAll" ma:showField="CatchAllData" ma:web="5a12d974-712b-42cf-ac9f-ed325d2db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7DC4FC-4415-4984-AF72-17193838033F}">
  <ds:schemaRefs>
    <ds:schemaRef ds:uri="http://schemas.microsoft.com/office/2006/metadata/properties"/>
    <ds:schemaRef ds:uri="http://schemas.microsoft.com/office/infopath/2007/PartnerControls"/>
    <ds:schemaRef ds:uri="d235906c-2b19-4edb-a9cd-2968972d819c"/>
    <ds:schemaRef ds:uri="5a12d974-712b-42cf-ac9f-ed325d2db275"/>
  </ds:schemaRefs>
</ds:datastoreItem>
</file>

<file path=customXml/itemProps2.xml><?xml version="1.0" encoding="utf-8"?>
<ds:datastoreItem xmlns:ds="http://schemas.openxmlformats.org/officeDocument/2006/customXml" ds:itemID="{F378E289-7366-4F73-9D1F-8059081459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0F434A-0B6C-4199-83BB-228597B2BF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35906c-2b19-4edb-a9cd-2968972d819c"/>
    <ds:schemaRef ds:uri="5a12d974-712b-42cf-ac9f-ed325d2db2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270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Montserrat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Heloisa Cabral</cp:lastModifiedBy>
  <cp:revision>1</cp:revision>
  <dcterms:created xsi:type="dcterms:W3CDTF">2013-01-27T09:14:16Z</dcterms:created>
  <dcterms:modified xsi:type="dcterms:W3CDTF">2026-08-28T18:56:55Z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0x010100F4ED58D50DE1834C893F2B2667A51999</vt:lpwstr>
  </property>
  <property fmtid="{D5CDD505-2E9C-101B-9397-08002B2CF9AE}" pid="3" name="MediaServiceImageTags">
    <vt:lpwstr/>
  </property>
</Properties>
</file>