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5.xml"/><Relationship Id="rId17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4.xml"/><Relationship Id="rId5" Type="http://schemas.openxmlformats.org/officeDocument/2006/relationships/theme" Target="theme/theme1.xml"/><Relationship Id="rId15" Type="http://schemas.openxmlformats.org/officeDocument/2006/relationships/customXml" Target="../customXml/item1.xml"/><Relationship Id="rId10" Type="http://schemas.openxmlformats.org/officeDocument/2006/relationships/slide" Target="slides/slide3.xml"/><Relationship Id="rId4" Type="http://schemas.openxmlformats.org/officeDocument/2006/relationships/viewProps" Target="viewProps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01 · CAPA — navy integral, marca no topo, filete dourado. Sem rodapé.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02 · DIVISOR — navy com número grande, pausa entre capítulos. Troque "01" pelo número do capítulo.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03 · CONTEÚDO — TEXTO — eyebrow, título e corpo em bullets sobre paper. Um único destaque dourado (aqui, o primeiro marcador).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03B · CONTEÚDO — IMAGEM + TEXTO — imagem à esquerda (5 colunas), texto à direita (6 colunas), 1 coluna de goteira.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04 · DADOS — Navy 2, números em destaque (SemiBold), um único indicador em dourado. Data-base obrigatória.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05 · CITAÇÃO / DESTAQUE — texto em SemiBold, alinhado à esquerda (nunca centralizado), filete dourado vertical como único destaque. Sem itálico.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 06 · ENCERRAMENTO / CONTATO — mesmo padrão da capa, invertido. Bloco de contato é boilerplate — mantenha fixo entre materiais.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bolo-orange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12618720" y="2194560"/>
            <a:ext cx="8686800" cy="9643562"/>
          </a:xfrm>
          <a:prstGeom prst="rect">
            <a:avLst/>
          </a:prstGeom>
          <a:effectLst/>
        </p:spPr>
      </p:pic>
      <p:pic>
        <p:nvPicPr>
          <p:cNvPr id="3" name="Picture 2" descr="logo-horizonta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85800"/>
            <a:ext cx="2514600" cy="5920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8250" y="324612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TIPO DE MATERIAL — EX.: PROPOSTA, ROADSHOW, BOARD DECK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584448"/>
            <a:ext cx="50292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3886200"/>
            <a:ext cx="13258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Título da apresentação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em até duas linhas.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58064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Subtítulo com o contexto do material — uma frase curta, direta, sem adjetivo vazio.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8250" y="9281160"/>
            <a:ext cx="15811500" cy="9525"/>
          </a:xfrm>
          <a:prstGeom prst="rect">
            <a:avLst/>
          </a:prstGeom>
          <a:solidFill>
            <a:srgbClr val="2A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8250" y="943660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 Capital · [Mês] de [Ano]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92150" y="94366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solarcapital.com.br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1417320"/>
            <a:ext cx="8229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2000" b="0" i="0">
                <a:solidFill>
                  <a:srgbClr val="2A2055"/>
                </a:solidFill>
                <a:latin typeface="Montserrat SemiBold"/>
                <a:ea typeface="Montserrat SemiBold"/>
                <a:cs typeface="Montserrat SemiBold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8250" y="5989320"/>
            <a:ext cx="54864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8250" y="6263640"/>
            <a:ext cx="1178242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Nome da seção.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7360920"/>
            <a:ext cx="10439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Linha de apoio opcional — uma frase que resume o que vem a seguir.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2A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 Capital — Template de Apresentação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EYEBROW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312545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Título do slide de conteúdo.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874519"/>
            <a:ext cx="1178242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Subtítulo de apoio — uma frase que introduz o argumento do slide, sem repetir o título.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2331720"/>
            <a:ext cx="50292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8250" y="2971800"/>
            <a:ext cx="82296" cy="82296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8290" y="2880360"/>
            <a:ext cx="114623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Um argumento por marcador — frases curtas, sem vírgula em excesso.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8250" y="3630168"/>
            <a:ext cx="82296" cy="82296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8290" y="3538728"/>
            <a:ext cx="114623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Segundo ponto, no mesmo padrão de peso e tamanho do primeiro.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8250" y="4288536"/>
            <a:ext cx="82296" cy="82296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8290" y="4197096"/>
            <a:ext cx="114623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Terceiro ponto — comece por um verbo de ação sempre que possível.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8250" y="4946904"/>
            <a:ext cx="82296" cy="82296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8290" y="4855464"/>
            <a:ext cx="1146238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Use no máximo cinco marcadores por slide. Se precisar de mais, divida em dois slides.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Solar Capital — Template de Apresentação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EYEBROW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44684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Título do slide com imagem.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8250" y="2514600"/>
            <a:ext cx="6410325" cy="585216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8250" y="2514600"/>
            <a:ext cx="6410325" cy="5852160"/>
          </a:xfrm>
          <a:prstGeom prst="rect">
            <a:avLst/>
          </a:prstGeom>
          <a:noFill/>
          <a:ln w="12700">
            <a:solidFill>
              <a:srgbClr val="E3DC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2514600"/>
            <a:ext cx="6410325" cy="5852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spc="15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IMAGEM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Substitua por fotografia da operação ou do ativo real —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A8374"/>
                </a:solidFill>
                <a:latin typeface="Montserrat"/>
                <a:ea typeface="Montserrat"/>
                <a:cs typeface="Montserrat"/>
              </a:rPr>
              <a:t>nunca clichê de mercado financeiro. Proporção 4:5.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6400" y="2560320"/>
            <a:ext cx="775335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52525"/>
                </a:solidFill>
                <a:latin typeface="Montserrat Medium"/>
                <a:ea typeface="Montserrat Medium"/>
                <a:cs typeface="Montserrat Medium"/>
              </a:rPr>
              <a:t>Parágrafo de apoio explicando o contexto da imagem — o negócio, a operação ou o ativo por trás do crédito.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252525"/>
                </a:solidFill>
                <a:latin typeface="Montserrat"/>
                <a:ea typeface="Montserrat"/>
                <a:cs typeface="Montserrat"/>
              </a:rPr>
              <a:t>Segundo parágrafo, mais curto, com um dado ou desdobramento específico. Máximo de 68 caracteres por linha.</a:t>
            </a:r>
          </a:p>
        </p:txBody>
      </p:sp>
      <p:sp>
        <p:nvSpPr>
          <p:cNvPr id="8" name="Rectangle 7"/>
          <p:cNvSpPr/>
          <p:nvPr/>
        </p:nvSpPr>
        <p:spPr>
          <a:xfrm>
            <a:off x="9296400" y="6492239"/>
            <a:ext cx="50292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6400" y="6766560"/>
            <a:ext cx="775335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1E18"/>
                </a:solidFill>
                <a:latin typeface="Montserrat Medium"/>
                <a:ea typeface="Montserrat Medium"/>
                <a:cs typeface="Montserrat Medium"/>
              </a:rPr>
              <a:t>Legenda ou CTA de apoio, se necessário.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Solar Capital — Template de Apresentação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INDICADORES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78992"/>
            <a:ext cx="1312545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Título do slide de dados.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3291840"/>
            <a:ext cx="37242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R$ XXX 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4251960"/>
            <a:ext cx="37242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Legenda do indicador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7325" y="3291840"/>
            <a:ext cx="37242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XX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67325" y="4251960"/>
            <a:ext cx="37242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Legenda do indicador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3291840"/>
            <a:ext cx="37242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XX anos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0" y="4251960"/>
            <a:ext cx="37242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Legenda do indicador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25475" y="3291840"/>
            <a:ext cx="37242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X.XXX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25475" y="4251960"/>
            <a:ext cx="37242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Legenda do indicador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8250" y="5257800"/>
            <a:ext cx="15811500" cy="9525"/>
          </a:xfrm>
          <a:prstGeom prst="rect">
            <a:avLst/>
          </a:prstGeom>
          <a:solidFill>
            <a:srgbClr val="2A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5532120"/>
            <a:ext cx="1178242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E688E"/>
                </a:solidFill>
                <a:latin typeface="Montserrat"/>
                <a:ea typeface="Montserrat"/>
                <a:cs typeface="Montserrat"/>
              </a:rPr>
              <a:t>Todo indicador exibido precisa da data-base e da fonte. Ex.: "Base [mês] de [ano]."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2A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 Capital — Template de Apresentação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8250" y="77724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DESTAQUE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8250" y="2148840"/>
            <a:ext cx="82296" cy="265176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9730" y="2148840"/>
            <a:ext cx="1312545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211E18"/>
                </a:solidFill>
                <a:latin typeface="Montserrat SemiBold"/>
                <a:ea typeface="Montserrat SemiBold"/>
                <a:cs typeface="Montserrat SemiBold"/>
              </a:rPr>
              <a:t>“Frase de destaque, com até três linhas, extraída de uma fala institucional, um depoimento ou um dado relevante.”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9730" y="5074920"/>
            <a:ext cx="90963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14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NOME DO AUTOR · CARGO OU FONTE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E3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Medium"/>
                <a:ea typeface="Montserrat Medium"/>
                <a:cs typeface="Montserrat Medium"/>
              </a:rPr>
              <a:t>Solar Capital — Template de Apresentação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374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bolo-orange.png"/>
          <p:cNvPicPr>
            <a:picLocks noChangeAspect="1"/>
          </p:cNvPicPr>
          <p:nvPr/>
        </p:nvPicPr>
        <p:blipFill>
          <a:blip r:embed="rId2">
            <a:alphaModFix amt="7000"/>
          </a:blip>
          <a:stretch>
            <a:fillRect/>
          </a:stretch>
        </p:blipFill>
        <p:spPr>
          <a:xfrm>
            <a:off x="13533120" y="-914400"/>
            <a:ext cx="6858000" cy="7613339"/>
          </a:xfrm>
          <a:prstGeom prst="rect">
            <a:avLst/>
          </a:prstGeom>
          <a:effectLst/>
        </p:spPr>
      </p:pic>
      <p:pic>
        <p:nvPicPr>
          <p:cNvPr id="3" name="Picture 2" descr="logo-horizontal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85800"/>
            <a:ext cx="2194560" cy="516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8250" y="2331720"/>
            <a:ext cx="158115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18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VAMOS CONVERSAR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2670048"/>
            <a:ext cx="50292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2971800"/>
            <a:ext cx="12344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Frase de fechamento, com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chamada para a 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4754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B96B8"/>
                </a:solidFill>
                <a:latin typeface="Montserrat"/>
                <a:ea typeface="Montserrat"/>
                <a:cs typeface="Montserrat"/>
              </a:rPr>
              <a:t>Linha de apoio — o que você quer que o leitor faça a seguir.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576072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E-MAIL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1370" y="5742432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contato@solarcapital.com.br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6327648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TELEFONE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1370" y="630936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+55 11 3856-1545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6894576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40">
                <a:solidFill>
                  <a:srgbClr val="FFB22B"/>
                </a:solidFill>
                <a:latin typeface="Montserrat SemiBold"/>
                <a:ea typeface="Montserrat SemiBold"/>
                <a:cs typeface="Montserrat SemiBold"/>
              </a:rPr>
              <a:t>ENDEREÇO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1370" y="6876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Rua Dr. Eduardo de Souza Aranha, 153 · 6º andar · Itaim Bibi · São Paulo/SP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9646920"/>
            <a:ext cx="15811500" cy="9525"/>
          </a:xfrm>
          <a:prstGeom prst="rect">
            <a:avLst/>
          </a:prstGeom>
          <a:solidFill>
            <a:srgbClr val="2A2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97657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Medium"/>
                <a:ea typeface="Montserrat Medium"/>
                <a:cs typeface="Montserrat Medium"/>
              </a:rPr>
              <a:t>Solar Capital — Template de Apresentação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78150" y="97657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96B8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ED58D50DE1834C893F2B2667A51999" ma:contentTypeVersion="11" ma:contentTypeDescription="Crie um novo documento." ma:contentTypeScope="" ma:versionID="2f443012878aec1712e8c37e439e1f3b">
  <xsd:schema xmlns:xsd="http://www.w3.org/2001/XMLSchema" xmlns:xs="http://www.w3.org/2001/XMLSchema" xmlns:p="http://schemas.microsoft.com/office/2006/metadata/properties" xmlns:ns2="d235906c-2b19-4edb-a9cd-2968972d819c" xmlns:ns3="5a12d974-712b-42cf-ac9f-ed325d2db275" targetNamespace="http://schemas.microsoft.com/office/2006/metadata/properties" ma:root="true" ma:fieldsID="614ea2d73340a4f2459ac6fa1bd56008" ns2:_="" ns3:_="">
    <xsd:import namespace="d235906c-2b19-4edb-a9cd-2968972d819c"/>
    <xsd:import namespace="5a12d974-712b-42cf-ac9f-ed325d2db2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35906c-2b19-4edb-a9cd-2968972d8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10ac03ab-8548-4ef7-b0e2-cd6684823f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12d974-712b-42cf-ac9f-ed325d2db2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61eb28-ad59-4027-a765-3ed6b835ad5b}" ma:internalName="TaxCatchAll" ma:showField="CatchAllData" ma:web="5a12d974-712b-42cf-ac9f-ed325d2db2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35906c-2b19-4edb-a9cd-2968972d819c">
      <Terms xmlns="http://schemas.microsoft.com/office/infopath/2007/PartnerControls"/>
    </lcf76f155ced4ddcb4097134ff3c332f>
    <TaxCatchAll xmlns="5a12d974-712b-42cf-ac9f-ed325d2db275" xsi:nil="true"/>
  </documentManagement>
</p:properties>
</file>

<file path=customXml/itemProps1.xml><?xml version="1.0" encoding="utf-8"?>
<ds:datastoreItem xmlns:ds="http://schemas.openxmlformats.org/officeDocument/2006/customXml" ds:itemID="{54DF9A50-F91F-4D10-95A2-3C0327544078}"/>
</file>

<file path=customXml/itemProps2.xml><?xml version="1.0" encoding="utf-8"?>
<ds:datastoreItem xmlns:ds="http://schemas.openxmlformats.org/officeDocument/2006/customXml" ds:itemID="{3BCF26B7-6AE4-4D50-BD55-551AE2508AEC}"/>
</file>

<file path=customXml/itemProps3.xml><?xml version="1.0" encoding="utf-8"?>
<ds:datastoreItem xmlns:ds="http://schemas.openxmlformats.org/officeDocument/2006/customXml" ds:itemID="{DA2A2AD3-6450-4685-84FA-62710A134FCD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0x010100F4ED58D50DE1834C893F2B2667A51999</vt:lpwstr>
  </property>
</Properties>
</file>